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8"/>
  </p:notesMasterIdLst>
  <p:sldIdLst>
    <p:sldId id="256" r:id="rId2"/>
    <p:sldId id="257" r:id="rId3"/>
    <p:sldId id="281" r:id="rId4"/>
    <p:sldId id="258" r:id="rId5"/>
    <p:sldId id="259" r:id="rId6"/>
    <p:sldId id="260" r:id="rId7"/>
    <p:sldId id="275"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7" r:id="rId23"/>
    <p:sldId id="278" r:id="rId24"/>
    <p:sldId id="279" r:id="rId25"/>
    <p:sldId id="280"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AA22DB-E7A4-4BC7-A876-9C16B198F77C}" v="160" dt="2025-08-13T09:11:02.1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6" d="100"/>
          <a:sy n="76" d="100"/>
        </p:scale>
        <p:origin x="26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5969C0-977F-444D-9453-1AD4B05FD581}" type="datetimeFigureOut">
              <a:rPr lang="en-IN" smtClean="0"/>
              <a:t>13-09-2025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5EA0D8-AA49-494A-9272-7C12CFBB68C8}" type="slidenum">
              <a:rPr lang="en-IN" smtClean="0"/>
              <a:t>‹#›</a:t>
            </a:fld>
            <a:endParaRPr lang="en-IN"/>
          </a:p>
        </p:txBody>
      </p:sp>
    </p:spTree>
    <p:extLst>
      <p:ext uri="{BB962C8B-B14F-4D97-AF65-F5344CB8AC3E}">
        <p14:creationId xmlns:p14="http://schemas.microsoft.com/office/powerpoint/2010/main" val="911010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F5EA0D8-AA49-494A-9272-7C12CFBB68C8}" type="slidenum">
              <a:rPr lang="en-IN" smtClean="0"/>
              <a:t>4</a:t>
            </a:fld>
            <a:endParaRPr lang="en-IN"/>
          </a:p>
        </p:txBody>
      </p:sp>
    </p:spTree>
    <p:extLst>
      <p:ext uri="{BB962C8B-B14F-4D97-AF65-F5344CB8AC3E}">
        <p14:creationId xmlns:p14="http://schemas.microsoft.com/office/powerpoint/2010/main" val="8871213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27A92131-0BA7-4EE0-97CE-0C4C008A882D}" type="datetimeFigureOut">
              <a:rPr lang="en-IN" smtClean="0"/>
              <a:t>13-09-2025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266435908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A92131-0BA7-4EE0-97CE-0C4C008A882D}" type="datetimeFigureOut">
              <a:rPr lang="en-IN" smtClean="0"/>
              <a:t>13-09-2025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168148501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A92131-0BA7-4EE0-97CE-0C4C008A882D}" type="datetimeFigureOut">
              <a:rPr lang="en-IN" smtClean="0"/>
              <a:t>13-09-2025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267203734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A92131-0BA7-4EE0-97CE-0C4C008A882D}" type="datetimeFigureOut">
              <a:rPr lang="en-IN" smtClean="0"/>
              <a:t>13-09-2025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246640226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A92131-0BA7-4EE0-97CE-0C4C008A882D}" type="datetimeFigureOut">
              <a:rPr lang="en-IN" smtClean="0"/>
              <a:t>13-09-2025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144307761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A92131-0BA7-4EE0-97CE-0C4C008A882D}" type="datetimeFigureOut">
              <a:rPr lang="en-IN" smtClean="0"/>
              <a:t>13-09-2025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33362563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A92131-0BA7-4EE0-97CE-0C4C008A882D}" type="datetimeFigureOut">
              <a:rPr lang="en-IN" smtClean="0"/>
              <a:t>13-09-2025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22187694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A92131-0BA7-4EE0-97CE-0C4C008A882D}" type="datetimeFigureOut">
              <a:rPr lang="en-IN" smtClean="0"/>
              <a:t>13-09-2025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288563967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A92131-0BA7-4EE0-97CE-0C4C008A882D}" type="datetimeFigureOut">
              <a:rPr lang="en-IN" smtClean="0"/>
              <a:t>13-09-2025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381353703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A92131-0BA7-4EE0-97CE-0C4C008A882D}" type="datetimeFigureOut">
              <a:rPr lang="en-IN" smtClean="0"/>
              <a:t>13-09-2025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117221478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A92131-0BA7-4EE0-97CE-0C4C008A882D}" type="datetimeFigureOut">
              <a:rPr lang="en-IN" smtClean="0"/>
              <a:t>13-09-2025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149700762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A92131-0BA7-4EE0-97CE-0C4C008A882D}" type="datetimeFigureOut">
              <a:rPr lang="en-IN" smtClean="0"/>
              <a:t>13-09-2025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DB62B0-02C6-478E-BF5E-0012111E86E7}"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8067667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A92131-0BA7-4EE0-97CE-0C4C008A882D}" type="datetimeFigureOut">
              <a:rPr lang="en-IN" smtClean="0"/>
              <a:t>13-09-2025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8082572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7A92131-0BA7-4EE0-97CE-0C4C008A882D}" type="datetimeFigureOut">
              <a:rPr lang="en-IN" smtClean="0"/>
              <a:t>13-09-2025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313065904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7A92131-0BA7-4EE0-97CE-0C4C008A882D}" type="datetimeFigureOut">
              <a:rPr lang="en-IN" smtClean="0"/>
              <a:t>13-09-2025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375754523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A92131-0BA7-4EE0-97CE-0C4C008A882D}" type="datetimeFigureOut">
              <a:rPr lang="en-IN" smtClean="0"/>
              <a:t>13-09-2025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133017353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A92131-0BA7-4EE0-97CE-0C4C008A882D}" type="datetimeFigureOut">
              <a:rPr lang="en-IN" smtClean="0"/>
              <a:t>13-09-2025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DB62B0-02C6-478E-BF5E-0012111E86E7}" type="slidenum">
              <a:rPr lang="en-IN" smtClean="0"/>
              <a:t>‹#›</a:t>
            </a:fld>
            <a:endParaRPr lang="en-IN"/>
          </a:p>
        </p:txBody>
      </p:sp>
    </p:spTree>
    <p:extLst>
      <p:ext uri="{BB962C8B-B14F-4D97-AF65-F5344CB8AC3E}">
        <p14:creationId xmlns:p14="http://schemas.microsoft.com/office/powerpoint/2010/main" val="309855125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7A92131-0BA7-4EE0-97CE-0C4C008A882D}" type="datetimeFigureOut">
              <a:rPr lang="en-IN" smtClean="0"/>
              <a:t>13-09-2025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CDB62B0-02C6-478E-BF5E-0012111E86E7}" type="slidenum">
              <a:rPr lang="en-IN" smtClean="0"/>
              <a:t>‹#›</a:t>
            </a:fld>
            <a:endParaRPr lang="en-IN"/>
          </a:p>
        </p:txBody>
      </p:sp>
    </p:spTree>
    <p:extLst>
      <p:ext uri="{BB962C8B-B14F-4D97-AF65-F5344CB8AC3E}">
        <p14:creationId xmlns:p14="http://schemas.microsoft.com/office/powerpoint/2010/main" val="223689568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788D5DFD-FA42-4EB0-B24E-4180C0CC5A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 name="Rectangle 10">
              <a:extLst>
                <a:ext uri="{FF2B5EF4-FFF2-40B4-BE49-F238E27FC236}">
                  <a16:creationId xmlns:a16="http://schemas.microsoft.com/office/drawing/2014/main" id="{CC864817-5955-484B-9D1F-9BC8DB739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280C083F-71A6-4E55-AE35-586518FE29BC}"/>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5" name="Picture 4">
            <a:extLst>
              <a:ext uri="{FF2B5EF4-FFF2-40B4-BE49-F238E27FC236}">
                <a16:creationId xmlns:a16="http://schemas.microsoft.com/office/drawing/2014/main" id="{84820333-1114-DC05-50EF-4728ABF284E5}"/>
              </a:ext>
            </a:extLst>
          </p:cNvPr>
          <p:cNvPicPr>
            <a:picLocks noChangeAspect="1"/>
          </p:cNvPicPr>
          <p:nvPr/>
        </p:nvPicPr>
        <p:blipFill>
          <a:blip r:embed="rId4">
            <a:alphaModFix/>
            <a:extLst>
              <a:ext uri="{28A0092B-C50C-407E-A947-70E740481C1C}">
                <a14:useLocalDpi xmlns:a14="http://schemas.microsoft.com/office/drawing/2010/main" val="0"/>
              </a:ext>
            </a:extLst>
          </a:blip>
          <a:srcRect t="7819" b="35914"/>
          <a:stretch>
            <a:fillRect/>
          </a:stretch>
        </p:blipFill>
        <p:spPr>
          <a:xfrm>
            <a:off x="3611" y="10"/>
            <a:ext cx="12188389" cy="6857990"/>
          </a:xfrm>
          <a:prstGeom prst="rect">
            <a:avLst/>
          </a:prstGeom>
        </p:spPr>
      </p:pic>
      <p:grpSp>
        <p:nvGrpSpPr>
          <p:cNvPr id="44" name="Group 43">
            <a:extLst>
              <a:ext uri="{FF2B5EF4-FFF2-40B4-BE49-F238E27FC236}">
                <a16:creationId xmlns:a16="http://schemas.microsoft.com/office/drawing/2014/main" id="{D44056DF-7985-4692-968A-466E9E6AF7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15" name="Round Diagonal Corner Rectangle 7">
              <a:extLst>
                <a:ext uri="{FF2B5EF4-FFF2-40B4-BE49-F238E27FC236}">
                  <a16:creationId xmlns:a16="http://schemas.microsoft.com/office/drawing/2014/main" id="{B414A174-532A-4602-934F-9858D1D86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940B0C0C-7F94-4725-8108-62B3B7A5AE7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17" name="Freeform 32">
                <a:extLst>
                  <a:ext uri="{FF2B5EF4-FFF2-40B4-BE49-F238E27FC236}">
                    <a16:creationId xmlns:a16="http://schemas.microsoft.com/office/drawing/2014/main" id="{367EAC5B-1891-480A-A3AD-B9F6A88FAC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8" name="Freeform 33">
                <a:extLst>
                  <a:ext uri="{FF2B5EF4-FFF2-40B4-BE49-F238E27FC236}">
                    <a16:creationId xmlns:a16="http://schemas.microsoft.com/office/drawing/2014/main" id="{E33FF633-15BA-464F-8F5B-26C56665F7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19" name="Freeform 34">
                <a:extLst>
                  <a:ext uri="{FF2B5EF4-FFF2-40B4-BE49-F238E27FC236}">
                    <a16:creationId xmlns:a16="http://schemas.microsoft.com/office/drawing/2014/main" id="{0C949DF6-E66B-4DB8-AB52-30CA781B48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0" name="Freeform 37">
                <a:extLst>
                  <a:ext uri="{FF2B5EF4-FFF2-40B4-BE49-F238E27FC236}">
                    <a16:creationId xmlns:a16="http://schemas.microsoft.com/office/drawing/2014/main" id="{309C2298-5EF9-4B09-8995-014F6D3BF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1" name="Freeform 35">
                <a:extLst>
                  <a:ext uri="{FF2B5EF4-FFF2-40B4-BE49-F238E27FC236}">
                    <a16:creationId xmlns:a16="http://schemas.microsoft.com/office/drawing/2014/main" id="{319B2AFC-EBFF-477C-A364-6D575BE5AA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2" name="Freeform 36">
                <a:extLst>
                  <a:ext uri="{FF2B5EF4-FFF2-40B4-BE49-F238E27FC236}">
                    <a16:creationId xmlns:a16="http://schemas.microsoft.com/office/drawing/2014/main" id="{CC6B7D67-F2F8-4B07-B954-EAC9135B2B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3" name="Freeform 38">
                <a:extLst>
                  <a:ext uri="{FF2B5EF4-FFF2-40B4-BE49-F238E27FC236}">
                    <a16:creationId xmlns:a16="http://schemas.microsoft.com/office/drawing/2014/main" id="{7FF1659D-33DA-4F62-8567-A54020D2E2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4" name="Freeform 39">
                <a:extLst>
                  <a:ext uri="{FF2B5EF4-FFF2-40B4-BE49-F238E27FC236}">
                    <a16:creationId xmlns:a16="http://schemas.microsoft.com/office/drawing/2014/main" id="{9110F572-DC3D-4AB3-B731-B73BD6505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5" name="Freeform 40">
                <a:extLst>
                  <a:ext uri="{FF2B5EF4-FFF2-40B4-BE49-F238E27FC236}">
                    <a16:creationId xmlns:a16="http://schemas.microsoft.com/office/drawing/2014/main" id="{A2F7D0E9-68CE-40F9-B0E9-F915103ECF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6" name="Rectangle 41">
                <a:extLst>
                  <a:ext uri="{FF2B5EF4-FFF2-40B4-BE49-F238E27FC236}">
                    <a16:creationId xmlns:a16="http://schemas.microsoft.com/office/drawing/2014/main" id="{AB69A438-1FB7-454A-A3E9-0C329643CD4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sp>
            <p:nvSpPr>
              <p:cNvPr id="27" name="Freeform 32">
                <a:extLst>
                  <a:ext uri="{FF2B5EF4-FFF2-40B4-BE49-F238E27FC236}">
                    <a16:creationId xmlns:a16="http://schemas.microsoft.com/office/drawing/2014/main" id="{E64598D0-3A2C-4570-9E7C-C52C89549B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8" name="Freeform 33">
                <a:extLst>
                  <a:ext uri="{FF2B5EF4-FFF2-40B4-BE49-F238E27FC236}">
                    <a16:creationId xmlns:a16="http://schemas.microsoft.com/office/drawing/2014/main" id="{CC17CF42-8908-477B-9F36-DA1306CA01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29" name="Freeform 34">
                <a:extLst>
                  <a:ext uri="{FF2B5EF4-FFF2-40B4-BE49-F238E27FC236}">
                    <a16:creationId xmlns:a16="http://schemas.microsoft.com/office/drawing/2014/main" id="{A2457851-D4A0-404C-BF3F-99AE00B9E9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0" name="Freeform 37">
                <a:extLst>
                  <a:ext uri="{FF2B5EF4-FFF2-40B4-BE49-F238E27FC236}">
                    <a16:creationId xmlns:a16="http://schemas.microsoft.com/office/drawing/2014/main" id="{ECC300FA-EE4A-489E-9A47-79BEBF05D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1" name="Freeform 35">
                <a:extLst>
                  <a:ext uri="{FF2B5EF4-FFF2-40B4-BE49-F238E27FC236}">
                    <a16:creationId xmlns:a16="http://schemas.microsoft.com/office/drawing/2014/main" id="{0D1F26E2-902B-416B-A1DB-80DAF78D8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2" name="Freeform 36">
                <a:extLst>
                  <a:ext uri="{FF2B5EF4-FFF2-40B4-BE49-F238E27FC236}">
                    <a16:creationId xmlns:a16="http://schemas.microsoft.com/office/drawing/2014/main" id="{491346A0-BF6D-45A5-806A-2150768722C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3" name="Freeform 38">
                <a:extLst>
                  <a:ext uri="{FF2B5EF4-FFF2-40B4-BE49-F238E27FC236}">
                    <a16:creationId xmlns:a16="http://schemas.microsoft.com/office/drawing/2014/main" id="{A8A5AAC9-38FD-4A03-AB91-236F2AAC62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4" name="Freeform 39">
                <a:extLst>
                  <a:ext uri="{FF2B5EF4-FFF2-40B4-BE49-F238E27FC236}">
                    <a16:creationId xmlns:a16="http://schemas.microsoft.com/office/drawing/2014/main" id="{7AD4105C-55AA-47FF-AC5D-5BCB0B78C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5" name="Freeform 40">
                <a:extLst>
                  <a:ext uri="{FF2B5EF4-FFF2-40B4-BE49-F238E27FC236}">
                    <a16:creationId xmlns:a16="http://schemas.microsoft.com/office/drawing/2014/main" id="{1C4B42B1-B112-4057-82C3-E5AF3BC7F6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sp>
          <p:sp>
            <p:nvSpPr>
              <p:cNvPr id="36" name="Rectangle 41">
                <a:extLst>
                  <a:ext uri="{FF2B5EF4-FFF2-40B4-BE49-F238E27FC236}">
                    <a16:creationId xmlns:a16="http://schemas.microsoft.com/office/drawing/2014/main" id="{C8B37395-3651-4E66-A62E-31529FABC8C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sp>
        </p:grpSp>
      </p:grpSp>
      <p:sp>
        <p:nvSpPr>
          <p:cNvPr id="2" name="Title 1">
            <a:extLst>
              <a:ext uri="{FF2B5EF4-FFF2-40B4-BE49-F238E27FC236}">
                <a16:creationId xmlns:a16="http://schemas.microsoft.com/office/drawing/2014/main" id="{46B502D3-A609-A634-5D87-39E7A69CBB03}"/>
              </a:ext>
            </a:extLst>
          </p:cNvPr>
          <p:cNvSpPr>
            <a:spLocks noGrp="1"/>
          </p:cNvSpPr>
          <p:nvPr>
            <p:ph type="ctrTitle"/>
          </p:nvPr>
        </p:nvSpPr>
        <p:spPr>
          <a:xfrm>
            <a:off x="2667000" y="2328334"/>
            <a:ext cx="6858000" cy="1367896"/>
          </a:xfrm>
        </p:spPr>
        <p:txBody>
          <a:bodyPr>
            <a:normAutofit/>
          </a:bodyPr>
          <a:lstStyle/>
          <a:p>
            <a:pPr algn="ctr"/>
            <a:r>
              <a:rPr lang="en-IN" sz="4400"/>
              <a:t>SMARTPHONE</a:t>
            </a:r>
            <a:br>
              <a:rPr lang="en-IN" sz="4400"/>
            </a:br>
            <a:r>
              <a:rPr lang="en-IN" sz="4400"/>
              <a:t> DATASET ANALYSIS</a:t>
            </a:r>
          </a:p>
        </p:txBody>
      </p:sp>
      <p:sp>
        <p:nvSpPr>
          <p:cNvPr id="3" name="Subtitle 2">
            <a:extLst>
              <a:ext uri="{FF2B5EF4-FFF2-40B4-BE49-F238E27FC236}">
                <a16:creationId xmlns:a16="http://schemas.microsoft.com/office/drawing/2014/main" id="{D85A1D17-9F23-747B-7261-54671B634472}"/>
              </a:ext>
            </a:extLst>
          </p:cNvPr>
          <p:cNvSpPr>
            <a:spLocks noGrp="1"/>
          </p:cNvSpPr>
          <p:nvPr>
            <p:ph type="subTitle" idx="1"/>
          </p:nvPr>
        </p:nvSpPr>
        <p:spPr>
          <a:xfrm>
            <a:off x="2667001" y="3602038"/>
            <a:ext cx="6857999" cy="953029"/>
          </a:xfrm>
        </p:spPr>
        <p:txBody>
          <a:bodyPr>
            <a:normAutofit/>
          </a:bodyPr>
          <a:lstStyle/>
          <a:p>
            <a:pPr algn="ctr"/>
            <a:r>
              <a:rPr lang="en-IN" b="1"/>
              <a:t>BY:PRITHI KARRAHE</a:t>
            </a:r>
          </a:p>
        </p:txBody>
      </p:sp>
      <p:sp>
        <p:nvSpPr>
          <p:cNvPr id="45" name="Rectangle 44">
            <a:extLst>
              <a:ext uri="{FF2B5EF4-FFF2-40B4-BE49-F238E27FC236}">
                <a16:creationId xmlns:a16="http://schemas.microsoft.com/office/drawing/2014/main" id="{6B6D540F-1E2F-416F-819F-D8216BC8F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089469957"/>
      </p:ext>
    </p:extLst>
  </p:cSld>
  <p:clrMapOvr>
    <a:masterClrMapping/>
  </p:clrMapOvr>
  <mc:AlternateContent xmlns:mc="http://schemas.openxmlformats.org/markup-compatibility/2006">
    <mc:Choice xmlns:p14="http://schemas.microsoft.com/office/powerpoint/2010/main" Requires="p14">
      <p:transition spd="slow" p14:dur="3400">
        <p14:reveal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t="-39000" b="-3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0819D1-AD8D-E810-9A36-DF28A6E5E22D}"/>
              </a:ext>
            </a:extLst>
          </p:cNvPr>
          <p:cNvSpPr txBox="1"/>
          <p:nvPr/>
        </p:nvSpPr>
        <p:spPr>
          <a:xfrm>
            <a:off x="738231" y="293615"/>
            <a:ext cx="10251347" cy="523220"/>
          </a:xfrm>
          <a:prstGeom prst="rect">
            <a:avLst/>
          </a:prstGeom>
          <a:noFill/>
        </p:spPr>
        <p:txBody>
          <a:bodyPr wrap="square" rtlCol="0">
            <a:spAutoFit/>
          </a:bodyPr>
          <a:lstStyle/>
          <a:p>
            <a:r>
              <a:rPr lang="en-IN" sz="2800" b="1" dirty="0"/>
              <a:t>SMARTPHONE DATASET ANALYSIS:</a:t>
            </a:r>
          </a:p>
        </p:txBody>
      </p:sp>
      <p:sp>
        <p:nvSpPr>
          <p:cNvPr id="5" name="TextBox 4">
            <a:extLst>
              <a:ext uri="{FF2B5EF4-FFF2-40B4-BE49-F238E27FC236}">
                <a16:creationId xmlns:a16="http://schemas.microsoft.com/office/drawing/2014/main" id="{F79C3F47-7168-8CA2-1FF6-D468C1DC0943}"/>
              </a:ext>
            </a:extLst>
          </p:cNvPr>
          <p:cNvSpPr txBox="1"/>
          <p:nvPr/>
        </p:nvSpPr>
        <p:spPr>
          <a:xfrm>
            <a:off x="738230" y="981512"/>
            <a:ext cx="9924177" cy="1323439"/>
          </a:xfrm>
          <a:prstGeom prst="rect">
            <a:avLst/>
          </a:prstGeom>
          <a:noFill/>
        </p:spPr>
        <p:txBody>
          <a:bodyPr wrap="square" lIns="91440" tIns="45720" rIns="91440" bIns="45720" rtlCol="0" anchor="t">
            <a:spAutoFit/>
          </a:bodyPr>
          <a:lstStyle/>
          <a:p>
            <a:r>
              <a:rPr lang="en-US" sz="2000" dirty="0"/>
              <a:t>This analysis explores the smartphone market trends in India, China, and the USA over the past three years(2023,2024,2025), focusing on </a:t>
            </a:r>
            <a:r>
              <a:rPr lang="en-US" sz="2000" b="1" dirty="0"/>
              <a:t>launching prices and mobile phone </a:t>
            </a:r>
            <a:r>
              <a:rPr lang="en-US" sz="2000" b="1" err="1"/>
              <a:t>models,brands</a:t>
            </a:r>
            <a:r>
              <a:rPr lang="en-US" sz="2000" b="1" dirty="0"/>
              <a:t> and other features like </a:t>
            </a:r>
            <a:r>
              <a:rPr lang="en-US" sz="2000" b="1" err="1"/>
              <a:t>storage,battery,RAM</a:t>
            </a:r>
            <a:r>
              <a:rPr lang="en-US" sz="2000" b="1" dirty="0"/>
              <a:t> and camera quality</a:t>
            </a:r>
            <a:r>
              <a:rPr lang="en-US" sz="2000" dirty="0"/>
              <a:t>. It will examine the competitive landscape.</a:t>
            </a:r>
            <a:r>
              <a:rPr lang="en-US" dirty="0"/>
              <a:t>.</a:t>
            </a:r>
            <a:endParaRPr lang="en-IN" dirty="0"/>
          </a:p>
        </p:txBody>
      </p:sp>
      <p:sp>
        <p:nvSpPr>
          <p:cNvPr id="6" name="TextBox 5">
            <a:extLst>
              <a:ext uri="{FF2B5EF4-FFF2-40B4-BE49-F238E27FC236}">
                <a16:creationId xmlns:a16="http://schemas.microsoft.com/office/drawing/2014/main" id="{4400F55E-7360-3DDF-A56E-82B37069E04E}"/>
              </a:ext>
            </a:extLst>
          </p:cNvPr>
          <p:cNvSpPr txBox="1"/>
          <p:nvPr/>
        </p:nvSpPr>
        <p:spPr>
          <a:xfrm>
            <a:off x="966296" y="2960673"/>
            <a:ext cx="10251347" cy="3139321"/>
          </a:xfrm>
          <a:prstGeom prst="rect">
            <a:avLst/>
          </a:prstGeom>
          <a:noFill/>
        </p:spPr>
        <p:txBody>
          <a:bodyPr wrap="square" lIns="91440" tIns="45720" rIns="91440" bIns="45720" rtlCol="0" anchor="t">
            <a:spAutoFit/>
          </a:bodyPr>
          <a:lstStyle/>
          <a:p>
            <a:r>
              <a:rPr lang="en-US" sz="2800" b="1" dirty="0"/>
              <a:t>OBJECTIVE:</a:t>
            </a:r>
          </a:p>
          <a:p>
            <a:endParaRPr lang="en-US" dirty="0"/>
          </a:p>
          <a:p>
            <a:r>
              <a:rPr lang="en-US" sz="2400" b="1" dirty="0"/>
              <a:t>-</a:t>
            </a:r>
            <a:r>
              <a:rPr lang="en-US" sz="2000" dirty="0"/>
              <a:t>The primary objective of this Smartphone Dataset Analysis is to comprehensively understand the </a:t>
            </a:r>
            <a:r>
              <a:rPr lang="en-US" sz="2000" b="1" dirty="0"/>
              <a:t>features, specifications, pricing, and trends of various mobile phone - --models</a:t>
            </a:r>
            <a:r>
              <a:rPr lang="en-US" sz="2000" dirty="0"/>
              <a:t> across different companies in 3 different countries.</a:t>
            </a:r>
          </a:p>
          <a:p>
            <a:r>
              <a:rPr lang="en-US" sz="2400" b="1" dirty="0"/>
              <a:t>-</a:t>
            </a:r>
            <a:r>
              <a:rPr lang="en-US" sz="2000" dirty="0"/>
              <a:t>This helps in making informed decisions for </a:t>
            </a:r>
            <a:r>
              <a:rPr lang="en-US" sz="2000" b="1" dirty="0"/>
              <a:t>market analysis, product comparison, inventory planning, and consumer insights.</a:t>
            </a:r>
          </a:p>
          <a:p>
            <a:r>
              <a:rPr lang="en-US" sz="2400" b="1" dirty="0"/>
              <a:t>-</a:t>
            </a:r>
            <a:r>
              <a:rPr lang="en-US" sz="2000" dirty="0"/>
              <a:t>The goal is to provide a comprehensive overview of the evolving smartphone landscape in these three significant markets.</a:t>
            </a:r>
            <a:endParaRPr lang="en-US" sz="2000" b="1" dirty="0"/>
          </a:p>
        </p:txBody>
      </p:sp>
    </p:spTree>
    <p:extLst>
      <p:ext uri="{BB962C8B-B14F-4D97-AF65-F5344CB8AC3E}">
        <p14:creationId xmlns:p14="http://schemas.microsoft.com/office/powerpoint/2010/main" val="291016262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519FA62B-A2C9-49F5-8C45-9D5CDCD72B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nvGrpSpPr>
          <p:cNvPr id="9" name="Group 8">
            <a:extLst>
              <a:ext uri="{FF2B5EF4-FFF2-40B4-BE49-F238E27FC236}">
                <a16:creationId xmlns:a16="http://schemas.microsoft.com/office/drawing/2014/main" id="{A24E966C-35F3-4DB1-8C23-4BC252E4E4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14" name="Group 13">
              <a:extLst>
                <a:ext uri="{FF2B5EF4-FFF2-40B4-BE49-F238E27FC236}">
                  <a16:creationId xmlns:a16="http://schemas.microsoft.com/office/drawing/2014/main" id="{C24ADCBC-2A94-4F6E-BC8D-278612B7ACF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pFill/>
          </p:grpSpPr>
          <p:sp>
            <p:nvSpPr>
              <p:cNvPr id="26" name="Rectangle 5">
                <a:extLst>
                  <a:ext uri="{FF2B5EF4-FFF2-40B4-BE49-F238E27FC236}">
                    <a16:creationId xmlns:a16="http://schemas.microsoft.com/office/drawing/2014/main" id="{38F45A3E-0BAF-4E7A-AD24-51B345041D5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27" name="Freeform 6">
                <a:extLst>
                  <a:ext uri="{FF2B5EF4-FFF2-40B4-BE49-F238E27FC236}">
                    <a16:creationId xmlns:a16="http://schemas.microsoft.com/office/drawing/2014/main" id="{5340FE26-BABB-409C-A32A-B3D10BD235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8" name="Freeform 7">
                <a:extLst>
                  <a:ext uri="{FF2B5EF4-FFF2-40B4-BE49-F238E27FC236}">
                    <a16:creationId xmlns:a16="http://schemas.microsoft.com/office/drawing/2014/main" id="{A9468B59-1984-42C3-88A4-942CF6EF75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9" name="Freeform 8">
                <a:extLst>
                  <a:ext uri="{FF2B5EF4-FFF2-40B4-BE49-F238E27FC236}">
                    <a16:creationId xmlns:a16="http://schemas.microsoft.com/office/drawing/2014/main" id="{F6B5E914-0078-49CC-AD42-C97DC361CD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0" name="Freeform 9">
                <a:extLst>
                  <a:ext uri="{FF2B5EF4-FFF2-40B4-BE49-F238E27FC236}">
                    <a16:creationId xmlns:a16="http://schemas.microsoft.com/office/drawing/2014/main" id="{D18B3F5A-0978-48AE-9360-8ABC8CEABB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1" name="Freeform 10">
                <a:extLst>
                  <a:ext uri="{FF2B5EF4-FFF2-40B4-BE49-F238E27FC236}">
                    <a16:creationId xmlns:a16="http://schemas.microsoft.com/office/drawing/2014/main" id="{27E73F9B-CBFF-473A-9B41-8964B831E9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2" name="Freeform 11">
                <a:extLst>
                  <a:ext uri="{FF2B5EF4-FFF2-40B4-BE49-F238E27FC236}">
                    <a16:creationId xmlns:a16="http://schemas.microsoft.com/office/drawing/2014/main" id="{558218B5-0904-4C19-8935-1A64432BC2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3" name="Freeform 12">
                <a:extLst>
                  <a:ext uri="{FF2B5EF4-FFF2-40B4-BE49-F238E27FC236}">
                    <a16:creationId xmlns:a16="http://schemas.microsoft.com/office/drawing/2014/main" id="{DBCBCB59-A700-4032-AB43-CB06687996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4" name="Freeform 13">
                <a:extLst>
                  <a:ext uri="{FF2B5EF4-FFF2-40B4-BE49-F238E27FC236}">
                    <a16:creationId xmlns:a16="http://schemas.microsoft.com/office/drawing/2014/main" id="{861A9C11-1685-4F09-B995-D5ECAD153F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5" name="Freeform 14">
                <a:extLst>
                  <a:ext uri="{FF2B5EF4-FFF2-40B4-BE49-F238E27FC236}">
                    <a16:creationId xmlns:a16="http://schemas.microsoft.com/office/drawing/2014/main" id="{57CCC420-3BF0-4A3E-A4FB-41537B064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6" name="Freeform 15">
                <a:extLst>
                  <a:ext uri="{FF2B5EF4-FFF2-40B4-BE49-F238E27FC236}">
                    <a16:creationId xmlns:a16="http://schemas.microsoft.com/office/drawing/2014/main" id="{1DEFC6D1-15DA-4DDC-8FD1-B7630B8D60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7" name="Line 16">
                <a:extLst>
                  <a:ext uri="{FF2B5EF4-FFF2-40B4-BE49-F238E27FC236}">
                    <a16:creationId xmlns:a16="http://schemas.microsoft.com/office/drawing/2014/main" id="{0C6F2EE9-81FE-4B46-9513-6EC7D930124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38" name="Freeform 17">
                <a:extLst>
                  <a:ext uri="{FF2B5EF4-FFF2-40B4-BE49-F238E27FC236}">
                    <a16:creationId xmlns:a16="http://schemas.microsoft.com/office/drawing/2014/main" id="{26DF77E9-F68C-4FE0-864E-A4A4DE3616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9" name="Freeform 18">
                <a:extLst>
                  <a:ext uri="{FF2B5EF4-FFF2-40B4-BE49-F238E27FC236}">
                    <a16:creationId xmlns:a16="http://schemas.microsoft.com/office/drawing/2014/main" id="{9D3495ED-B588-4755-B8BB-18D33E4AC4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0" name="Freeform 19">
                <a:extLst>
                  <a:ext uri="{FF2B5EF4-FFF2-40B4-BE49-F238E27FC236}">
                    <a16:creationId xmlns:a16="http://schemas.microsoft.com/office/drawing/2014/main" id="{E76105FE-305A-42A7-B2DD-388B99FAB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1" name="Freeform 20">
                <a:extLst>
                  <a:ext uri="{FF2B5EF4-FFF2-40B4-BE49-F238E27FC236}">
                    <a16:creationId xmlns:a16="http://schemas.microsoft.com/office/drawing/2014/main" id="{F1883F6E-6FAE-49E2-AE28-02B88BEBF6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2" name="Rectangle 21">
                <a:extLst>
                  <a:ext uri="{FF2B5EF4-FFF2-40B4-BE49-F238E27FC236}">
                    <a16:creationId xmlns:a16="http://schemas.microsoft.com/office/drawing/2014/main" id="{8C8A198F-A0AA-455F-ACD5-8587457BDD5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43" name="Freeform 22">
                <a:extLst>
                  <a:ext uri="{FF2B5EF4-FFF2-40B4-BE49-F238E27FC236}">
                    <a16:creationId xmlns:a16="http://schemas.microsoft.com/office/drawing/2014/main" id="{E57E155C-0F05-498E-B0E3-33AE15B7E8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4" name="Freeform 23">
                <a:extLst>
                  <a:ext uri="{FF2B5EF4-FFF2-40B4-BE49-F238E27FC236}">
                    <a16:creationId xmlns:a16="http://schemas.microsoft.com/office/drawing/2014/main" id="{3D7FB1D7-F9DB-443D-A2D4-40C46F6975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5" name="Freeform 24">
                <a:extLst>
                  <a:ext uri="{FF2B5EF4-FFF2-40B4-BE49-F238E27FC236}">
                    <a16:creationId xmlns:a16="http://schemas.microsoft.com/office/drawing/2014/main" id="{9EF7FB08-B52A-4C0D-BF32-AC6D91AE99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6" name="Freeform 25">
                <a:extLst>
                  <a:ext uri="{FF2B5EF4-FFF2-40B4-BE49-F238E27FC236}">
                    <a16:creationId xmlns:a16="http://schemas.microsoft.com/office/drawing/2014/main" id="{2A27D708-7911-4EAB-8A9D-E608726B57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7" name="Freeform 26">
                <a:extLst>
                  <a:ext uri="{FF2B5EF4-FFF2-40B4-BE49-F238E27FC236}">
                    <a16:creationId xmlns:a16="http://schemas.microsoft.com/office/drawing/2014/main" id="{40A3E3AC-335B-4EAB-A5D4-E72C8434A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8" name="Freeform 27">
                <a:extLst>
                  <a:ext uri="{FF2B5EF4-FFF2-40B4-BE49-F238E27FC236}">
                    <a16:creationId xmlns:a16="http://schemas.microsoft.com/office/drawing/2014/main" id="{FC4E923E-7CEC-4950-8C12-F40EAE7A3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9" name="Freeform 28">
                <a:extLst>
                  <a:ext uri="{FF2B5EF4-FFF2-40B4-BE49-F238E27FC236}">
                    <a16:creationId xmlns:a16="http://schemas.microsoft.com/office/drawing/2014/main" id="{23A92FB5-3211-4195-8FFA-A8F49F6777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0" name="Freeform 29">
                <a:extLst>
                  <a:ext uri="{FF2B5EF4-FFF2-40B4-BE49-F238E27FC236}">
                    <a16:creationId xmlns:a16="http://schemas.microsoft.com/office/drawing/2014/main" id="{BB88442A-84E1-4264-BD24-B14020F21E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1" name="Freeform 30">
                <a:extLst>
                  <a:ext uri="{FF2B5EF4-FFF2-40B4-BE49-F238E27FC236}">
                    <a16:creationId xmlns:a16="http://schemas.microsoft.com/office/drawing/2014/main" id="{B47AD665-0844-40BF-AE62-BA493929C5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2" name="Freeform 31">
                <a:extLst>
                  <a:ext uri="{FF2B5EF4-FFF2-40B4-BE49-F238E27FC236}">
                    <a16:creationId xmlns:a16="http://schemas.microsoft.com/office/drawing/2014/main" id="{01D8E540-292C-4867-BD21-43910262E9F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grpSp>
        <p:grpSp>
          <p:nvGrpSpPr>
            <p:cNvPr id="15" name="Group 14">
              <a:extLst>
                <a:ext uri="{FF2B5EF4-FFF2-40B4-BE49-F238E27FC236}">
                  <a16:creationId xmlns:a16="http://schemas.microsoft.com/office/drawing/2014/main" id="{A00C8F50-D632-4BE8-B5BF-8AEAE2D1326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pFill/>
          </p:grpSpPr>
          <p:sp>
            <p:nvSpPr>
              <p:cNvPr id="16" name="Freeform 32">
                <a:extLst>
                  <a:ext uri="{FF2B5EF4-FFF2-40B4-BE49-F238E27FC236}">
                    <a16:creationId xmlns:a16="http://schemas.microsoft.com/office/drawing/2014/main" id="{7870CC07-8D37-4F4D-A73B-9762FFAB1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 name="Freeform 33">
                <a:extLst>
                  <a:ext uri="{FF2B5EF4-FFF2-40B4-BE49-F238E27FC236}">
                    <a16:creationId xmlns:a16="http://schemas.microsoft.com/office/drawing/2014/main" id="{06B84BAB-C27B-4804-9496-FDDA7FF6F2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 name="Freeform 34">
                <a:extLst>
                  <a:ext uri="{FF2B5EF4-FFF2-40B4-BE49-F238E27FC236}">
                    <a16:creationId xmlns:a16="http://schemas.microsoft.com/office/drawing/2014/main" id="{45E90447-AF32-4C90-8940-D5EBE9F640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9" name="Freeform 35">
                <a:extLst>
                  <a:ext uri="{FF2B5EF4-FFF2-40B4-BE49-F238E27FC236}">
                    <a16:creationId xmlns:a16="http://schemas.microsoft.com/office/drawing/2014/main" id="{DFD35AB5-2871-471E-87D3-C3C024C31E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0" name="Freeform 36">
                <a:extLst>
                  <a:ext uri="{FF2B5EF4-FFF2-40B4-BE49-F238E27FC236}">
                    <a16:creationId xmlns:a16="http://schemas.microsoft.com/office/drawing/2014/main" id="{60EED77B-C4CD-44DE-B7AA-472CBEE6EC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1" name="Freeform 37">
                <a:extLst>
                  <a:ext uri="{FF2B5EF4-FFF2-40B4-BE49-F238E27FC236}">
                    <a16:creationId xmlns:a16="http://schemas.microsoft.com/office/drawing/2014/main" id="{68122908-2E24-4971-A70E-29CFE953E5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2" name="Freeform 38">
                <a:extLst>
                  <a:ext uri="{FF2B5EF4-FFF2-40B4-BE49-F238E27FC236}">
                    <a16:creationId xmlns:a16="http://schemas.microsoft.com/office/drawing/2014/main" id="{43930918-848F-4F70-8C42-426DCCB4D4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3" name="Freeform 39">
                <a:extLst>
                  <a:ext uri="{FF2B5EF4-FFF2-40B4-BE49-F238E27FC236}">
                    <a16:creationId xmlns:a16="http://schemas.microsoft.com/office/drawing/2014/main" id="{7C2C1A0B-06A1-4F89-9A58-66CAB57F1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4" name="Freeform 40">
                <a:extLst>
                  <a:ext uri="{FF2B5EF4-FFF2-40B4-BE49-F238E27FC236}">
                    <a16:creationId xmlns:a16="http://schemas.microsoft.com/office/drawing/2014/main" id="{F26FAEF0-6EA1-41B4-AC1D-0BC56E43EF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5" name="Rectangle 41">
                <a:extLst>
                  <a:ext uri="{FF2B5EF4-FFF2-40B4-BE49-F238E27FC236}">
                    <a16:creationId xmlns:a16="http://schemas.microsoft.com/office/drawing/2014/main" id="{563F085C-A9C1-47AB-9656-468B79DE5A2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grpSp>
      </p:grpSp>
      <p:grpSp>
        <p:nvGrpSpPr>
          <p:cNvPr id="10" name="Group 9">
            <a:extLst>
              <a:ext uri="{FF2B5EF4-FFF2-40B4-BE49-F238E27FC236}">
                <a16:creationId xmlns:a16="http://schemas.microsoft.com/office/drawing/2014/main" id="{851F9572-54D5-457A-BA34-C395A478A4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5" name="Rectangle 54">
              <a:extLst>
                <a:ext uri="{FF2B5EF4-FFF2-40B4-BE49-F238E27FC236}">
                  <a16:creationId xmlns:a16="http://schemas.microsoft.com/office/drawing/2014/main" id="{C47D2EE3-C191-49DE-B600-02C0905E4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2">
              <a:extLst>
                <a:ext uri="{FF2B5EF4-FFF2-40B4-BE49-F238E27FC236}">
                  <a16:creationId xmlns:a16="http://schemas.microsoft.com/office/drawing/2014/main" id="{0D562F95-99C1-44F5-A9D2-96096AE576A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12" name="Picture 11" descr="Digital financial graph">
            <a:extLst>
              <a:ext uri="{FF2B5EF4-FFF2-40B4-BE49-F238E27FC236}">
                <a16:creationId xmlns:a16="http://schemas.microsoft.com/office/drawing/2014/main" id="{05522BC0-5327-5CFE-6516-BB8C04FC3D77}"/>
              </a:ext>
            </a:extLst>
          </p:cNvPr>
          <p:cNvPicPr>
            <a:picLocks noChangeAspect="1"/>
          </p:cNvPicPr>
          <p:nvPr/>
        </p:nvPicPr>
        <p:blipFill>
          <a:blip r:embed="rId4"/>
          <a:srcRect l="34231" r="15722" b="-2"/>
          <a:stretch>
            <a:fillRect/>
          </a:stretch>
        </p:blipFill>
        <p:spPr>
          <a:xfrm>
            <a:off x="-5597" y="10"/>
            <a:ext cx="6101597" cy="6857990"/>
          </a:xfrm>
          <a:prstGeom prst="rect">
            <a:avLst/>
          </a:prstGeom>
        </p:spPr>
      </p:pic>
      <p:grpSp>
        <p:nvGrpSpPr>
          <p:cNvPr id="53" name="Group 52">
            <a:extLst>
              <a:ext uri="{FF2B5EF4-FFF2-40B4-BE49-F238E27FC236}">
                <a16:creationId xmlns:a16="http://schemas.microsoft.com/office/drawing/2014/main" id="{06A80B50-DCB4-4775-9C8E-7AF0F56803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59" name="Rectangle 58">
              <a:extLst>
                <a:ext uri="{FF2B5EF4-FFF2-40B4-BE49-F238E27FC236}">
                  <a16:creationId xmlns:a16="http://schemas.microsoft.com/office/drawing/2014/main" id="{57B6B07F-8DDD-4497-9D08-B1FED494250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60" name="Freeform 6">
              <a:extLst>
                <a:ext uri="{FF2B5EF4-FFF2-40B4-BE49-F238E27FC236}">
                  <a16:creationId xmlns:a16="http://schemas.microsoft.com/office/drawing/2014/main" id="{D34962D6-F3CD-4DC5-BF49-D6912045EA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1" name="Freeform 7">
              <a:extLst>
                <a:ext uri="{FF2B5EF4-FFF2-40B4-BE49-F238E27FC236}">
                  <a16:creationId xmlns:a16="http://schemas.microsoft.com/office/drawing/2014/main" id="{6D73EE8F-606B-44B2-B0D8-4E760E2396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2" name="Rectangle 61">
              <a:extLst>
                <a:ext uri="{FF2B5EF4-FFF2-40B4-BE49-F238E27FC236}">
                  <a16:creationId xmlns:a16="http://schemas.microsoft.com/office/drawing/2014/main" id="{4BB572A3-4B3D-42D3-8A1E-099D9711F21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63" name="Freeform 9">
              <a:extLst>
                <a:ext uri="{FF2B5EF4-FFF2-40B4-BE49-F238E27FC236}">
                  <a16:creationId xmlns:a16="http://schemas.microsoft.com/office/drawing/2014/main" id="{C23D0852-9666-424F-92B1-06969E0486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4" name="Freeform 10">
              <a:extLst>
                <a:ext uri="{FF2B5EF4-FFF2-40B4-BE49-F238E27FC236}">
                  <a16:creationId xmlns:a16="http://schemas.microsoft.com/office/drawing/2014/main" id="{F4EB5FCA-E3DF-400A-B2DF-3D4A8DE95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5" name="Freeform 11">
              <a:extLst>
                <a:ext uri="{FF2B5EF4-FFF2-40B4-BE49-F238E27FC236}">
                  <a16:creationId xmlns:a16="http://schemas.microsoft.com/office/drawing/2014/main" id="{CE8BF121-2A5E-4DF0-BF3D-418EBDB29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6" name="Freeform 12">
              <a:extLst>
                <a:ext uri="{FF2B5EF4-FFF2-40B4-BE49-F238E27FC236}">
                  <a16:creationId xmlns:a16="http://schemas.microsoft.com/office/drawing/2014/main" id="{C74600D7-3557-47CD-B93A-945D150EC8C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7" name="Freeform 13">
              <a:extLst>
                <a:ext uri="{FF2B5EF4-FFF2-40B4-BE49-F238E27FC236}">
                  <a16:creationId xmlns:a16="http://schemas.microsoft.com/office/drawing/2014/main" id="{A958ADB2-4D3A-46BD-B22A-C4F4BA8976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8" name="Freeform 14">
              <a:extLst>
                <a:ext uri="{FF2B5EF4-FFF2-40B4-BE49-F238E27FC236}">
                  <a16:creationId xmlns:a16="http://schemas.microsoft.com/office/drawing/2014/main" id="{1E9E49CE-2171-48FE-99CC-0680E5E1FD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69" name="Freeform 15">
              <a:extLst>
                <a:ext uri="{FF2B5EF4-FFF2-40B4-BE49-F238E27FC236}">
                  <a16:creationId xmlns:a16="http://schemas.microsoft.com/office/drawing/2014/main" id="{AE8DBF97-F3A6-4B11-A8B9-7130FEACC3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0" name="Freeform 16">
              <a:extLst>
                <a:ext uri="{FF2B5EF4-FFF2-40B4-BE49-F238E27FC236}">
                  <a16:creationId xmlns:a16="http://schemas.microsoft.com/office/drawing/2014/main" id="{37F19211-D5F9-4D42-BC7C-E300523B7FF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1" name="Freeform 17">
              <a:extLst>
                <a:ext uri="{FF2B5EF4-FFF2-40B4-BE49-F238E27FC236}">
                  <a16:creationId xmlns:a16="http://schemas.microsoft.com/office/drawing/2014/main" id="{D8FA95C9-8B12-43AB-B57F-E217001D37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2" name="Freeform 18">
              <a:extLst>
                <a:ext uri="{FF2B5EF4-FFF2-40B4-BE49-F238E27FC236}">
                  <a16:creationId xmlns:a16="http://schemas.microsoft.com/office/drawing/2014/main" id="{FFBCF82E-D8A3-4F77-B21F-AD33E804C8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3" name="Freeform 19">
              <a:extLst>
                <a:ext uri="{FF2B5EF4-FFF2-40B4-BE49-F238E27FC236}">
                  <a16:creationId xmlns:a16="http://schemas.microsoft.com/office/drawing/2014/main" id="{9EAEC88E-CF2C-4FFF-BE1C-3ECDDF8AF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4" name="Freeform 20">
              <a:extLst>
                <a:ext uri="{FF2B5EF4-FFF2-40B4-BE49-F238E27FC236}">
                  <a16:creationId xmlns:a16="http://schemas.microsoft.com/office/drawing/2014/main" id="{32BB7076-53D2-42EF-89F5-730F18CFE8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5" name="Freeform 21">
              <a:extLst>
                <a:ext uri="{FF2B5EF4-FFF2-40B4-BE49-F238E27FC236}">
                  <a16:creationId xmlns:a16="http://schemas.microsoft.com/office/drawing/2014/main" id="{64B50F9C-4972-4D3C-A93A-DD715BA405C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6" name="Freeform 22">
              <a:extLst>
                <a:ext uri="{FF2B5EF4-FFF2-40B4-BE49-F238E27FC236}">
                  <a16:creationId xmlns:a16="http://schemas.microsoft.com/office/drawing/2014/main" id="{B4E1A12C-F137-4ECB-8F56-2FA283321A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7" name="Freeform 23">
              <a:extLst>
                <a:ext uri="{FF2B5EF4-FFF2-40B4-BE49-F238E27FC236}">
                  <a16:creationId xmlns:a16="http://schemas.microsoft.com/office/drawing/2014/main" id="{82996E38-1E79-4C38-BB73-850C1F6BDC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8" name="Freeform 24">
              <a:extLst>
                <a:ext uri="{FF2B5EF4-FFF2-40B4-BE49-F238E27FC236}">
                  <a16:creationId xmlns:a16="http://schemas.microsoft.com/office/drawing/2014/main" id="{CE927FE3-1BE5-4D05-B8D7-88E07FF640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79" name="Freeform 25">
              <a:extLst>
                <a:ext uri="{FF2B5EF4-FFF2-40B4-BE49-F238E27FC236}">
                  <a16:creationId xmlns:a16="http://schemas.microsoft.com/office/drawing/2014/main" id="{27B981F4-D791-404F-A6E1-83FAD75378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0" name="Freeform 26">
              <a:extLst>
                <a:ext uri="{FF2B5EF4-FFF2-40B4-BE49-F238E27FC236}">
                  <a16:creationId xmlns:a16="http://schemas.microsoft.com/office/drawing/2014/main" id="{C79724CA-F950-4F24-A2DF-A6C66C8FB9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1" name="Freeform 27">
              <a:extLst>
                <a:ext uri="{FF2B5EF4-FFF2-40B4-BE49-F238E27FC236}">
                  <a16:creationId xmlns:a16="http://schemas.microsoft.com/office/drawing/2014/main" id="{B60F86CD-6B84-4A86-9A84-1253D5C63F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2" name="Freeform 28">
              <a:extLst>
                <a:ext uri="{FF2B5EF4-FFF2-40B4-BE49-F238E27FC236}">
                  <a16:creationId xmlns:a16="http://schemas.microsoft.com/office/drawing/2014/main" id="{6ADDC23E-DD84-4022-9E68-7E35C80E6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3" name="Freeform 29">
              <a:extLst>
                <a:ext uri="{FF2B5EF4-FFF2-40B4-BE49-F238E27FC236}">
                  <a16:creationId xmlns:a16="http://schemas.microsoft.com/office/drawing/2014/main" id="{8FC3E1B2-C741-4242-8D3C-D98A8A213A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4" name="Freeform 30">
              <a:extLst>
                <a:ext uri="{FF2B5EF4-FFF2-40B4-BE49-F238E27FC236}">
                  <a16:creationId xmlns:a16="http://schemas.microsoft.com/office/drawing/2014/main" id="{43E10B4F-DACB-4777-BDEB-26A94121E9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5" name="Freeform 31">
              <a:extLst>
                <a:ext uri="{FF2B5EF4-FFF2-40B4-BE49-F238E27FC236}">
                  <a16:creationId xmlns:a16="http://schemas.microsoft.com/office/drawing/2014/main" id="{0F6D9197-EFD5-4945-BC96-A5EC66848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6" name="Freeform 32">
              <a:extLst>
                <a:ext uri="{FF2B5EF4-FFF2-40B4-BE49-F238E27FC236}">
                  <a16:creationId xmlns:a16="http://schemas.microsoft.com/office/drawing/2014/main" id="{129E04CE-31E3-49FB-857A-6C0074B6C7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7" name="Rectangle 86">
              <a:extLst>
                <a:ext uri="{FF2B5EF4-FFF2-40B4-BE49-F238E27FC236}">
                  <a16:creationId xmlns:a16="http://schemas.microsoft.com/office/drawing/2014/main" id="{6DDF20A0-F5D5-4DF9-8859-9BAB9B07D9D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88" name="Freeform 34">
              <a:extLst>
                <a:ext uri="{FF2B5EF4-FFF2-40B4-BE49-F238E27FC236}">
                  <a16:creationId xmlns:a16="http://schemas.microsoft.com/office/drawing/2014/main" id="{6EAE610D-D6A4-417B-8D1D-9F46CFD16A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89" name="Freeform 35">
              <a:extLst>
                <a:ext uri="{FF2B5EF4-FFF2-40B4-BE49-F238E27FC236}">
                  <a16:creationId xmlns:a16="http://schemas.microsoft.com/office/drawing/2014/main" id="{98EB1E73-7882-4002-970B-0EE5E9D0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0" name="Freeform 36">
              <a:extLst>
                <a:ext uri="{FF2B5EF4-FFF2-40B4-BE49-F238E27FC236}">
                  <a16:creationId xmlns:a16="http://schemas.microsoft.com/office/drawing/2014/main" id="{F6789CED-4C51-4E7C-8352-5589F476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1" name="Freeform 37">
              <a:extLst>
                <a:ext uri="{FF2B5EF4-FFF2-40B4-BE49-F238E27FC236}">
                  <a16:creationId xmlns:a16="http://schemas.microsoft.com/office/drawing/2014/main" id="{5EA3B6F1-F1AB-4125-B10A-A151640AA3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2" name="Freeform 38">
              <a:extLst>
                <a:ext uri="{FF2B5EF4-FFF2-40B4-BE49-F238E27FC236}">
                  <a16:creationId xmlns:a16="http://schemas.microsoft.com/office/drawing/2014/main" id="{10C1DAD7-FA62-4EA9-8B38-632D88F515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3" name="Freeform 39">
              <a:extLst>
                <a:ext uri="{FF2B5EF4-FFF2-40B4-BE49-F238E27FC236}">
                  <a16:creationId xmlns:a16="http://schemas.microsoft.com/office/drawing/2014/main" id="{76C106C8-9A2B-4AAD-BCB6-C969DE071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4" name="Freeform 40">
              <a:extLst>
                <a:ext uri="{FF2B5EF4-FFF2-40B4-BE49-F238E27FC236}">
                  <a16:creationId xmlns:a16="http://schemas.microsoft.com/office/drawing/2014/main" id="{0C85FDCD-71B0-4746-915A-FD6791AAB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5" name="Freeform 41">
              <a:extLst>
                <a:ext uri="{FF2B5EF4-FFF2-40B4-BE49-F238E27FC236}">
                  <a16:creationId xmlns:a16="http://schemas.microsoft.com/office/drawing/2014/main" id="{AAA649C3-C2F8-4C07-81B6-7CD6A5043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6" name="Freeform 42">
              <a:extLst>
                <a:ext uri="{FF2B5EF4-FFF2-40B4-BE49-F238E27FC236}">
                  <a16:creationId xmlns:a16="http://schemas.microsoft.com/office/drawing/2014/main" id="{204CA23C-3342-4E0B-8785-EDA0FDBECA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7" name="Freeform 43">
              <a:extLst>
                <a:ext uri="{FF2B5EF4-FFF2-40B4-BE49-F238E27FC236}">
                  <a16:creationId xmlns:a16="http://schemas.microsoft.com/office/drawing/2014/main" id="{2983555D-7FC7-4A4C-93BC-C29EECEE8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8" name="Freeform 44">
              <a:extLst>
                <a:ext uri="{FF2B5EF4-FFF2-40B4-BE49-F238E27FC236}">
                  <a16:creationId xmlns:a16="http://schemas.microsoft.com/office/drawing/2014/main" id="{3B6E164A-5B73-496F-83C1-4E257C561B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99" name="Rectangle 98">
              <a:extLst>
                <a:ext uri="{FF2B5EF4-FFF2-40B4-BE49-F238E27FC236}">
                  <a16:creationId xmlns:a16="http://schemas.microsoft.com/office/drawing/2014/main" id="{DF9EAAD5-930F-4895-869E-5DA5A5ED30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100" name="Freeform 46">
              <a:extLst>
                <a:ext uri="{FF2B5EF4-FFF2-40B4-BE49-F238E27FC236}">
                  <a16:creationId xmlns:a16="http://schemas.microsoft.com/office/drawing/2014/main" id="{12B05A00-01DB-41D0-98C5-F93FC98C4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1" name="Freeform 47">
              <a:extLst>
                <a:ext uri="{FF2B5EF4-FFF2-40B4-BE49-F238E27FC236}">
                  <a16:creationId xmlns:a16="http://schemas.microsoft.com/office/drawing/2014/main" id="{ACFCCFE5-2B6E-4EE2-8A0D-A18A312594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2" name="Freeform 48">
              <a:extLst>
                <a:ext uri="{FF2B5EF4-FFF2-40B4-BE49-F238E27FC236}">
                  <a16:creationId xmlns:a16="http://schemas.microsoft.com/office/drawing/2014/main" id="{70562808-51A5-4773-93CC-8B4A4A362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3" name="Freeform 49">
              <a:extLst>
                <a:ext uri="{FF2B5EF4-FFF2-40B4-BE49-F238E27FC236}">
                  <a16:creationId xmlns:a16="http://schemas.microsoft.com/office/drawing/2014/main" id="{EC56ED5F-316D-4A66-8F8F-72E26F50B9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4" name="Freeform 50">
              <a:extLst>
                <a:ext uri="{FF2B5EF4-FFF2-40B4-BE49-F238E27FC236}">
                  <a16:creationId xmlns:a16="http://schemas.microsoft.com/office/drawing/2014/main" id="{8C5B852E-E495-4C75-82DA-DD9426B2F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5" name="Freeform 51">
              <a:extLst>
                <a:ext uri="{FF2B5EF4-FFF2-40B4-BE49-F238E27FC236}">
                  <a16:creationId xmlns:a16="http://schemas.microsoft.com/office/drawing/2014/main" id="{873B9CD9-5CB4-4A2A-87B8-503800220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6" name="Freeform 52">
              <a:extLst>
                <a:ext uri="{FF2B5EF4-FFF2-40B4-BE49-F238E27FC236}">
                  <a16:creationId xmlns:a16="http://schemas.microsoft.com/office/drawing/2014/main" id="{693D1E94-8556-4B08-AFE0-A60455465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7" name="Freeform 53">
              <a:extLst>
                <a:ext uri="{FF2B5EF4-FFF2-40B4-BE49-F238E27FC236}">
                  <a16:creationId xmlns:a16="http://schemas.microsoft.com/office/drawing/2014/main" id="{32312E8C-B6A4-4488-A1B8-6A7DECAFD8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8" name="Freeform 54">
              <a:extLst>
                <a:ext uri="{FF2B5EF4-FFF2-40B4-BE49-F238E27FC236}">
                  <a16:creationId xmlns:a16="http://schemas.microsoft.com/office/drawing/2014/main" id="{CB36CE95-F25E-4549-9FD6-1B068418D3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09" name="Freeform 55">
              <a:extLst>
                <a:ext uri="{FF2B5EF4-FFF2-40B4-BE49-F238E27FC236}">
                  <a16:creationId xmlns:a16="http://schemas.microsoft.com/office/drawing/2014/main" id="{C452D834-CC93-48F0-9C24-A864E0A53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10" name="Freeform 56">
              <a:extLst>
                <a:ext uri="{FF2B5EF4-FFF2-40B4-BE49-F238E27FC236}">
                  <a16:creationId xmlns:a16="http://schemas.microsoft.com/office/drawing/2014/main" id="{2F8089AF-DC55-4EB6-90DD-468D2F1D01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11" name="Freeform 57">
              <a:extLst>
                <a:ext uri="{FF2B5EF4-FFF2-40B4-BE49-F238E27FC236}">
                  <a16:creationId xmlns:a16="http://schemas.microsoft.com/office/drawing/2014/main" id="{00DD0A37-AD9B-4A38-B2A5-C41D2780D2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12" name="Freeform 58">
              <a:extLst>
                <a:ext uri="{FF2B5EF4-FFF2-40B4-BE49-F238E27FC236}">
                  <a16:creationId xmlns:a16="http://schemas.microsoft.com/office/drawing/2014/main" id="{C24501AA-7C2F-4076-AE7A-3BE4467154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grpSp>
      <p:sp>
        <p:nvSpPr>
          <p:cNvPr id="3" name="TextBox 2">
            <a:extLst>
              <a:ext uri="{FF2B5EF4-FFF2-40B4-BE49-F238E27FC236}">
                <a16:creationId xmlns:a16="http://schemas.microsoft.com/office/drawing/2014/main" id="{5BFB14D4-CB01-4CF4-7F3A-0249E2F92284}"/>
              </a:ext>
            </a:extLst>
          </p:cNvPr>
          <p:cNvSpPr txBox="1"/>
          <p:nvPr/>
        </p:nvSpPr>
        <p:spPr>
          <a:xfrm>
            <a:off x="6448425" y="2974517"/>
            <a:ext cx="4818544" cy="3578683"/>
          </a:xfrm>
          <a:prstGeom prst="rect">
            <a:avLst/>
          </a:prstGeom>
        </p:spPr>
        <p:txBody>
          <a:bodyPr vert="horz" lIns="91440" tIns="45720" rIns="91440" bIns="45720" rtlCol="0" anchor="t">
            <a:normAutofit/>
          </a:bodyPr>
          <a:lstStyle/>
          <a:p>
            <a:pPr defTabSz="914400">
              <a:lnSpc>
                <a:spcPct val="120000"/>
              </a:lnSpc>
              <a:spcAft>
                <a:spcPts val="600"/>
              </a:spcAft>
              <a:buSzPct val="125000"/>
            </a:pPr>
            <a:r>
              <a:rPr lang="en-US" sz="2400" b="1" dirty="0"/>
              <a:t>Analysis</a:t>
            </a:r>
            <a:endParaRPr lang="en-US" sz="2400"/>
          </a:p>
          <a:p>
            <a:pPr defTabSz="914400">
              <a:lnSpc>
                <a:spcPct val="120000"/>
              </a:lnSpc>
              <a:spcAft>
                <a:spcPts val="600"/>
              </a:spcAft>
              <a:buSzPct val="125000"/>
            </a:pPr>
            <a:r>
              <a:rPr lang="en-US" dirty="0"/>
              <a:t>The dataset covers diverse mobile brands and models with multiple specifications including weight, RAM, camera features, processor, battery capacity, screen size, launch pricing across different countries, and launch year. The dataset enables detailed examination of trends in mobile technology, pricing strategies, and feature distributions.</a:t>
            </a:r>
            <a:endParaRPr lang="en-US"/>
          </a:p>
        </p:txBody>
      </p:sp>
      <p:sp>
        <p:nvSpPr>
          <p:cNvPr id="5" name="TextBox 4">
            <a:extLst>
              <a:ext uri="{FF2B5EF4-FFF2-40B4-BE49-F238E27FC236}">
                <a16:creationId xmlns:a16="http://schemas.microsoft.com/office/drawing/2014/main" id="{BFDDB2C7-E5EC-52B6-4486-28A92F6DF631}"/>
              </a:ext>
            </a:extLst>
          </p:cNvPr>
          <p:cNvSpPr txBox="1"/>
          <p:nvPr/>
        </p:nvSpPr>
        <p:spPr>
          <a:xfrm>
            <a:off x="6261197" y="295238"/>
            <a:ext cx="5299710" cy="2262158"/>
          </a:xfrm>
          <a:prstGeom prst="rect">
            <a:avLst/>
          </a:prstGeom>
          <a:noFill/>
        </p:spPr>
        <p:txBody>
          <a:bodyPr wrap="square" lIns="91440" tIns="45720" rIns="91440" bIns="45720" anchor="t">
            <a:spAutoFit/>
          </a:bodyPr>
          <a:lstStyle/>
          <a:p>
            <a:pPr>
              <a:spcAft>
                <a:spcPts val="600"/>
              </a:spcAft>
            </a:pPr>
            <a:r>
              <a:rPr lang="en-IN" sz="2400" b="1" dirty="0"/>
              <a:t>What is this Dataset for?</a:t>
            </a:r>
            <a:endParaRPr lang="en-IN" sz="2400" b="1"/>
          </a:p>
          <a:p>
            <a:pPr marL="342900" indent="-342900">
              <a:spcAft>
                <a:spcPts val="600"/>
              </a:spcAft>
              <a:buFont typeface="Wingdings" panose="05000000000000000000" pitchFamily="2" charset="2"/>
              <a:buChar char="v"/>
            </a:pPr>
            <a:endParaRPr lang="en-IN" sz="2000" b="1"/>
          </a:p>
          <a:p>
            <a:pPr>
              <a:spcAft>
                <a:spcPts val="600"/>
              </a:spcAft>
            </a:pPr>
            <a:r>
              <a:rPr lang="en-IN" b="1" dirty="0"/>
              <a:t>This dataset is useful for:</a:t>
            </a:r>
          </a:p>
          <a:p>
            <a:pPr marL="285750" indent="-285750">
              <a:spcAft>
                <a:spcPts val="600"/>
              </a:spcAft>
              <a:buFont typeface="Wingdings" panose="05000000000000000000" pitchFamily="2" charset="2"/>
              <a:buChar char="v"/>
            </a:pPr>
            <a:r>
              <a:rPr lang="en-IN" dirty="0"/>
              <a:t>Market research and competitor analysis.</a:t>
            </a:r>
          </a:p>
          <a:p>
            <a:pPr marL="285750" indent="-285750">
              <a:spcAft>
                <a:spcPts val="600"/>
              </a:spcAft>
              <a:buFont typeface="Wingdings" panose="05000000000000000000" pitchFamily="2" charset="2"/>
              <a:buChar char="v"/>
            </a:pPr>
            <a:r>
              <a:rPr lang="en-IN" dirty="0"/>
              <a:t>Product development and feature benchmarking.</a:t>
            </a:r>
          </a:p>
          <a:p>
            <a:pPr marL="285750" indent="-285750">
              <a:spcAft>
                <a:spcPts val="600"/>
              </a:spcAft>
              <a:buFont typeface="Wingdings" panose="05000000000000000000" pitchFamily="2" charset="2"/>
              <a:buChar char="v"/>
            </a:pPr>
            <a:r>
              <a:rPr lang="en-IN" dirty="0"/>
              <a:t>Pricing and marketing strategy formulation.</a:t>
            </a:r>
            <a:endParaRPr lang="en-IN"/>
          </a:p>
        </p:txBody>
      </p:sp>
    </p:spTree>
    <p:extLst>
      <p:ext uri="{BB962C8B-B14F-4D97-AF65-F5344CB8AC3E}">
        <p14:creationId xmlns:p14="http://schemas.microsoft.com/office/powerpoint/2010/main" val="33844394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058F09-D0B7-7589-A407-8F0C23160585}"/>
              </a:ext>
            </a:extLst>
          </p:cNvPr>
          <p:cNvSpPr txBox="1"/>
          <p:nvPr/>
        </p:nvSpPr>
        <p:spPr>
          <a:xfrm>
            <a:off x="796954" y="528506"/>
            <a:ext cx="8875552" cy="3323987"/>
          </a:xfrm>
          <a:prstGeom prst="rect">
            <a:avLst/>
          </a:prstGeom>
          <a:noFill/>
        </p:spPr>
        <p:txBody>
          <a:bodyPr wrap="square">
            <a:spAutoFit/>
          </a:bodyPr>
          <a:lstStyle/>
          <a:p>
            <a:r>
              <a:rPr lang="en-IN" sz="2400" b="1" dirty="0"/>
              <a:t>Current Industry Challenges Addressed by Data Analysis:</a:t>
            </a:r>
          </a:p>
          <a:p>
            <a:endParaRPr lang="en-IN" sz="2400" b="1" dirty="0"/>
          </a:p>
          <a:p>
            <a:pPr marL="285750" indent="-285750">
              <a:buFont typeface="Wingdings" panose="05000000000000000000" pitchFamily="2" charset="2"/>
              <a:buChar char="v"/>
            </a:pPr>
            <a:r>
              <a:rPr lang="en-IN" dirty="0"/>
              <a:t>Difficulty in comparing vast number of models across brands.</a:t>
            </a:r>
          </a:p>
          <a:p>
            <a:endParaRPr lang="en-IN" dirty="0"/>
          </a:p>
          <a:p>
            <a:pPr marL="285750" indent="-285750">
              <a:buFont typeface="Wingdings" panose="05000000000000000000" pitchFamily="2" charset="2"/>
              <a:buChar char="v"/>
            </a:pPr>
            <a:r>
              <a:rPr lang="en-IN" dirty="0"/>
              <a:t>Variability in features that impact user experience and buying decisions.</a:t>
            </a:r>
          </a:p>
          <a:p>
            <a:endParaRPr lang="en-IN" dirty="0"/>
          </a:p>
          <a:p>
            <a:pPr marL="285750" indent="-285750">
              <a:buFont typeface="Wingdings" panose="05000000000000000000" pitchFamily="2" charset="2"/>
              <a:buChar char="v"/>
            </a:pPr>
            <a:r>
              <a:rPr lang="en-IN" dirty="0"/>
              <a:t>Price disparities across different markets (India, China, USA).</a:t>
            </a:r>
          </a:p>
          <a:p>
            <a:endParaRPr lang="en-IN" dirty="0"/>
          </a:p>
          <a:p>
            <a:pPr marL="285750" indent="-285750">
              <a:buFont typeface="Wingdings" panose="05000000000000000000" pitchFamily="2" charset="2"/>
              <a:buChar char="v"/>
            </a:pPr>
            <a:r>
              <a:rPr lang="en-IN" dirty="0"/>
              <a:t>Identifying emerging technologies in processors and cameras.</a:t>
            </a:r>
          </a:p>
          <a:p>
            <a:endParaRPr lang="en-IN" dirty="0"/>
          </a:p>
          <a:p>
            <a:endParaRPr lang="en-IN" dirty="0"/>
          </a:p>
        </p:txBody>
      </p:sp>
      <p:sp>
        <p:nvSpPr>
          <p:cNvPr id="2" name="TextBox 1">
            <a:extLst>
              <a:ext uri="{FF2B5EF4-FFF2-40B4-BE49-F238E27FC236}">
                <a16:creationId xmlns:a16="http://schemas.microsoft.com/office/drawing/2014/main" id="{21132022-199C-D4B5-8C5B-4B43E6DE7CF8}"/>
              </a:ext>
            </a:extLst>
          </p:cNvPr>
          <p:cNvSpPr txBox="1"/>
          <p:nvPr/>
        </p:nvSpPr>
        <p:spPr>
          <a:xfrm>
            <a:off x="1040234" y="3529327"/>
            <a:ext cx="6727970" cy="677108"/>
          </a:xfrm>
          <a:prstGeom prst="rect">
            <a:avLst/>
          </a:prstGeom>
          <a:noFill/>
        </p:spPr>
        <p:txBody>
          <a:bodyPr wrap="square" rtlCol="0">
            <a:spAutoFit/>
          </a:bodyPr>
          <a:lstStyle/>
          <a:p>
            <a:r>
              <a:rPr lang="en-IN" sz="2000" dirty="0"/>
              <a:t>Presenting this dataset using SQL</a:t>
            </a:r>
          </a:p>
          <a:p>
            <a:endParaRPr lang="en-IN" dirty="0"/>
          </a:p>
        </p:txBody>
      </p:sp>
      <p:sp>
        <p:nvSpPr>
          <p:cNvPr id="4" name="TextBox 3">
            <a:extLst>
              <a:ext uri="{FF2B5EF4-FFF2-40B4-BE49-F238E27FC236}">
                <a16:creationId xmlns:a16="http://schemas.microsoft.com/office/drawing/2014/main" id="{FFCF00CF-9DDE-E88A-6572-94EA852DEFA7}"/>
              </a:ext>
            </a:extLst>
          </p:cNvPr>
          <p:cNvSpPr txBox="1"/>
          <p:nvPr/>
        </p:nvSpPr>
        <p:spPr>
          <a:xfrm>
            <a:off x="931176" y="4249020"/>
            <a:ext cx="3707934" cy="400110"/>
          </a:xfrm>
          <a:prstGeom prst="rect">
            <a:avLst/>
          </a:prstGeom>
          <a:noFill/>
        </p:spPr>
        <p:txBody>
          <a:bodyPr wrap="square" rtlCol="0">
            <a:spAutoFit/>
          </a:bodyPr>
          <a:lstStyle/>
          <a:p>
            <a:pPr fontAlgn="base"/>
            <a:r>
              <a:rPr lang="en-US" sz="2000" b="1" dirty="0">
                <a:latin typeface="Arial Black" panose="020B0A04020102020204" pitchFamily="34" charset="0"/>
              </a:rPr>
              <a:t>why using SQL?</a:t>
            </a:r>
            <a:endParaRPr lang="en-US" sz="2000" dirty="0">
              <a:latin typeface="Arial Black" panose="020B0A04020102020204" pitchFamily="34" charset="0"/>
            </a:endParaRPr>
          </a:p>
        </p:txBody>
      </p:sp>
      <p:sp>
        <p:nvSpPr>
          <p:cNvPr id="7" name="TextBox 6">
            <a:extLst>
              <a:ext uri="{FF2B5EF4-FFF2-40B4-BE49-F238E27FC236}">
                <a16:creationId xmlns:a16="http://schemas.microsoft.com/office/drawing/2014/main" id="{CEABD138-C2B1-8C1E-4354-B5082795C232}"/>
              </a:ext>
            </a:extLst>
          </p:cNvPr>
          <p:cNvSpPr txBox="1"/>
          <p:nvPr/>
        </p:nvSpPr>
        <p:spPr>
          <a:xfrm>
            <a:off x="931177" y="4691716"/>
            <a:ext cx="9328559" cy="1477328"/>
          </a:xfrm>
          <a:prstGeom prst="rect">
            <a:avLst/>
          </a:prstGeom>
          <a:noFill/>
        </p:spPr>
        <p:txBody>
          <a:bodyPr wrap="square">
            <a:spAutoFit/>
          </a:bodyPr>
          <a:lstStyle/>
          <a:p>
            <a:r>
              <a:rPr lang="en-IN" dirty="0"/>
              <a:t>Structured query language (SQL) is a </a:t>
            </a:r>
            <a:r>
              <a:rPr lang="en-IN" dirty="0" err="1"/>
              <a:t>powerfull</a:t>
            </a:r>
            <a:r>
              <a:rPr lang="en-IN" dirty="0"/>
              <a:t> programming language for storing and processing information in a relational database. A relational database stores information in tabular form, with rows and columns representing different data attributes and the various relationships between the data values.</a:t>
            </a:r>
            <a:r>
              <a:rPr lang="en-US" dirty="0"/>
              <a:t>They serve as the primary means to manage, manipulate, and retrieve data stored in structured formats within databases.</a:t>
            </a:r>
            <a:endParaRPr lang="en-IN" dirty="0"/>
          </a:p>
        </p:txBody>
      </p:sp>
    </p:spTree>
    <p:extLst>
      <p:ext uri="{BB962C8B-B14F-4D97-AF65-F5344CB8AC3E}">
        <p14:creationId xmlns:p14="http://schemas.microsoft.com/office/powerpoint/2010/main" val="351713560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C582417-6DC4-FDC4-699C-F16AB68EEC72}"/>
              </a:ext>
            </a:extLst>
          </p:cNvPr>
          <p:cNvSpPr txBox="1"/>
          <p:nvPr/>
        </p:nvSpPr>
        <p:spPr>
          <a:xfrm>
            <a:off x="1281418" y="736377"/>
            <a:ext cx="8072306" cy="923330"/>
          </a:xfrm>
          <a:prstGeom prst="rect">
            <a:avLst/>
          </a:prstGeom>
          <a:noFill/>
        </p:spPr>
        <p:txBody>
          <a:bodyPr wrap="square">
            <a:spAutoFit/>
          </a:bodyPr>
          <a:lstStyle/>
          <a:p>
            <a:r>
              <a:rPr lang="en-IN" dirty="0"/>
              <a:t>SQL commands are used to manage access and permissions in a database. They control who can see, modify, or manage the data and database </a:t>
            </a:r>
            <a:r>
              <a:rPr lang="en-IN" dirty="0" err="1"/>
              <a:t>objects.the</a:t>
            </a:r>
            <a:r>
              <a:rPr lang="en-IN" dirty="0"/>
              <a:t> </a:t>
            </a:r>
            <a:r>
              <a:rPr lang="en-IN" dirty="0" err="1"/>
              <a:t>sql</a:t>
            </a:r>
            <a:r>
              <a:rPr lang="en-IN" dirty="0"/>
              <a:t> commands are given below:</a:t>
            </a:r>
          </a:p>
        </p:txBody>
      </p:sp>
      <p:sp>
        <p:nvSpPr>
          <p:cNvPr id="5" name="TextBox 4">
            <a:extLst>
              <a:ext uri="{FF2B5EF4-FFF2-40B4-BE49-F238E27FC236}">
                <a16:creationId xmlns:a16="http://schemas.microsoft.com/office/drawing/2014/main" id="{5FB34283-A038-3CBA-DC5A-FC1B6D4F3403}"/>
              </a:ext>
            </a:extLst>
          </p:cNvPr>
          <p:cNvSpPr txBox="1"/>
          <p:nvPr/>
        </p:nvSpPr>
        <p:spPr>
          <a:xfrm>
            <a:off x="1281418" y="336267"/>
            <a:ext cx="6102990" cy="400110"/>
          </a:xfrm>
          <a:prstGeom prst="rect">
            <a:avLst/>
          </a:prstGeom>
          <a:noFill/>
        </p:spPr>
        <p:txBody>
          <a:bodyPr wrap="square">
            <a:spAutoFit/>
          </a:bodyPr>
          <a:lstStyle/>
          <a:p>
            <a:r>
              <a:rPr lang="en-IN" sz="2000" b="1" dirty="0"/>
              <a:t>SQL COMMANDS:</a:t>
            </a:r>
          </a:p>
        </p:txBody>
      </p:sp>
      <p:sp>
        <p:nvSpPr>
          <p:cNvPr id="10" name="TextBox 9">
            <a:extLst>
              <a:ext uri="{FF2B5EF4-FFF2-40B4-BE49-F238E27FC236}">
                <a16:creationId xmlns:a16="http://schemas.microsoft.com/office/drawing/2014/main" id="{A94F96B6-B341-0E22-E24B-B3E219459A54}"/>
              </a:ext>
            </a:extLst>
          </p:cNvPr>
          <p:cNvSpPr txBox="1"/>
          <p:nvPr/>
        </p:nvSpPr>
        <p:spPr>
          <a:xfrm>
            <a:off x="1281418" y="4617348"/>
            <a:ext cx="6102990" cy="369332"/>
          </a:xfrm>
          <a:prstGeom prst="rect">
            <a:avLst/>
          </a:prstGeom>
          <a:noFill/>
        </p:spPr>
        <p:txBody>
          <a:bodyPr wrap="square">
            <a:spAutoFit/>
          </a:bodyPr>
          <a:lstStyle/>
          <a:p>
            <a:r>
              <a:rPr lang="en-IN" sz="1800" b="1" dirty="0"/>
              <a:t>Why we use SQL over excel?</a:t>
            </a:r>
          </a:p>
        </p:txBody>
      </p:sp>
      <p:sp>
        <p:nvSpPr>
          <p:cNvPr id="14" name="TextBox 13">
            <a:extLst>
              <a:ext uri="{FF2B5EF4-FFF2-40B4-BE49-F238E27FC236}">
                <a16:creationId xmlns:a16="http://schemas.microsoft.com/office/drawing/2014/main" id="{3A5EF434-E53A-45D0-3B41-DFFEA24CB754}"/>
              </a:ext>
            </a:extLst>
          </p:cNvPr>
          <p:cNvSpPr txBox="1"/>
          <p:nvPr/>
        </p:nvSpPr>
        <p:spPr>
          <a:xfrm>
            <a:off x="1174457" y="5071741"/>
            <a:ext cx="8072306" cy="1569660"/>
          </a:xfrm>
          <a:prstGeom prst="rect">
            <a:avLst/>
          </a:prstGeom>
          <a:noFill/>
        </p:spPr>
        <p:txBody>
          <a:bodyPr wrap="square">
            <a:spAutoFit/>
          </a:bodyPr>
          <a:lstStyle/>
          <a:p>
            <a:r>
              <a:rPr lang="en-IN" dirty="0"/>
              <a:t>SQL is preferred over Excel primarily due to </a:t>
            </a:r>
            <a:r>
              <a:rPr lang="en-IN" b="1" dirty="0"/>
              <a:t>its capabilities in handling large, complex, and relational datasets, as well as its robust features for -</a:t>
            </a:r>
          </a:p>
          <a:p>
            <a:r>
              <a:rPr lang="en-IN" sz="2000" b="1" dirty="0"/>
              <a:t>data integrity and collaboration,</a:t>
            </a:r>
          </a:p>
          <a:p>
            <a:r>
              <a:rPr lang="en-IN" sz="2000" b="1" dirty="0"/>
              <a:t>Scalability and Performance ,</a:t>
            </a:r>
          </a:p>
          <a:p>
            <a:r>
              <a:rPr lang="en-IN" sz="2000" b="1" dirty="0"/>
              <a:t>Relational Data Management.</a:t>
            </a:r>
          </a:p>
        </p:txBody>
      </p:sp>
      <p:pic>
        <p:nvPicPr>
          <p:cNvPr id="2" name="Picture 1" descr="A diagram of a data command&#10;&#10;AI-generated content may be incorrect.">
            <a:extLst>
              <a:ext uri="{FF2B5EF4-FFF2-40B4-BE49-F238E27FC236}">
                <a16:creationId xmlns:a16="http://schemas.microsoft.com/office/drawing/2014/main" id="{26AB8CA5-0E6C-1825-4EAC-C07F501C1664}"/>
              </a:ext>
            </a:extLst>
          </p:cNvPr>
          <p:cNvPicPr>
            <a:picLocks noChangeAspect="1"/>
          </p:cNvPicPr>
          <p:nvPr/>
        </p:nvPicPr>
        <p:blipFill>
          <a:blip r:embed="rId2"/>
          <a:stretch>
            <a:fillRect/>
          </a:stretch>
        </p:blipFill>
        <p:spPr>
          <a:xfrm>
            <a:off x="1285875" y="1657350"/>
            <a:ext cx="4943475" cy="2962275"/>
          </a:xfrm>
          <a:prstGeom prst="rect">
            <a:avLst/>
          </a:prstGeom>
        </p:spPr>
      </p:pic>
    </p:spTree>
    <p:extLst>
      <p:ext uri="{BB962C8B-B14F-4D97-AF65-F5344CB8AC3E}">
        <p14:creationId xmlns:p14="http://schemas.microsoft.com/office/powerpoint/2010/main" val="61217472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4E2DB9-197F-6730-EE4D-94A43C3DBEB5}"/>
              </a:ext>
            </a:extLst>
          </p:cNvPr>
          <p:cNvSpPr txBox="1"/>
          <p:nvPr/>
        </p:nvSpPr>
        <p:spPr>
          <a:xfrm>
            <a:off x="1781880" y="830297"/>
            <a:ext cx="8365921" cy="461665"/>
          </a:xfrm>
          <a:prstGeom prst="rect">
            <a:avLst/>
          </a:prstGeom>
          <a:noFill/>
        </p:spPr>
        <p:txBody>
          <a:bodyPr wrap="square">
            <a:spAutoFit/>
          </a:bodyPr>
          <a:lstStyle/>
          <a:p>
            <a:r>
              <a:rPr lang="en-IN" sz="2400" b="1" dirty="0"/>
              <a:t>I have written my queries in </a:t>
            </a:r>
            <a:r>
              <a:rPr lang="en-IN" sz="2400" b="1" dirty="0" err="1"/>
              <a:t>mysql</a:t>
            </a:r>
            <a:r>
              <a:rPr lang="en-IN" sz="2000" b="1" dirty="0"/>
              <a:t>.</a:t>
            </a:r>
            <a:endParaRPr lang="en-IN" b="1" dirty="0"/>
          </a:p>
        </p:txBody>
      </p:sp>
      <p:sp>
        <p:nvSpPr>
          <p:cNvPr id="6" name="TextBox 5">
            <a:extLst>
              <a:ext uri="{FF2B5EF4-FFF2-40B4-BE49-F238E27FC236}">
                <a16:creationId xmlns:a16="http://schemas.microsoft.com/office/drawing/2014/main" id="{9E5A3D2B-F77C-60E1-A6D7-DA29D6329732}"/>
              </a:ext>
            </a:extLst>
          </p:cNvPr>
          <p:cNvSpPr txBox="1"/>
          <p:nvPr/>
        </p:nvSpPr>
        <p:spPr>
          <a:xfrm>
            <a:off x="617956" y="1590885"/>
            <a:ext cx="11358694" cy="4339650"/>
          </a:xfrm>
          <a:prstGeom prst="rect">
            <a:avLst/>
          </a:prstGeom>
          <a:noFill/>
        </p:spPr>
        <p:txBody>
          <a:bodyPr wrap="square">
            <a:spAutoFit/>
          </a:bodyPr>
          <a:lstStyle/>
          <a:p>
            <a:r>
              <a:rPr lang="en-US" sz="2400" b="1" dirty="0">
                <a:solidFill>
                  <a:schemeClr val="bg2">
                    <a:lumMod val="10000"/>
                    <a:lumOff val="90000"/>
                  </a:schemeClr>
                </a:solidFill>
              </a:rPr>
              <a:t>Frequently used commands in this project are:</a:t>
            </a:r>
          </a:p>
          <a:p>
            <a:endParaRPr lang="en-US" sz="1800" b="1" dirty="0">
              <a:solidFill>
                <a:schemeClr val="bg2">
                  <a:lumMod val="10000"/>
                  <a:lumOff val="90000"/>
                </a:schemeClr>
              </a:solidFill>
            </a:endParaRPr>
          </a:p>
          <a:p>
            <a:r>
              <a:rPr lang="en-US" sz="1800" b="1" dirty="0">
                <a:solidFill>
                  <a:schemeClr val="bg2">
                    <a:lumMod val="10000"/>
                    <a:lumOff val="90000"/>
                  </a:schemeClr>
                </a:solidFill>
              </a:rPr>
              <a:t>Insert: </a:t>
            </a:r>
            <a:r>
              <a:rPr lang="en-US" sz="1800" dirty="0">
                <a:solidFill>
                  <a:schemeClr val="bg2">
                    <a:lumMod val="10000"/>
                    <a:lumOff val="90000"/>
                  </a:schemeClr>
                </a:solidFill>
              </a:rPr>
              <a:t>Adds  new rows of data into table . </a:t>
            </a:r>
          </a:p>
          <a:p>
            <a:endParaRPr lang="en-US" sz="1800" dirty="0">
              <a:solidFill>
                <a:schemeClr val="bg2">
                  <a:lumMod val="10000"/>
                  <a:lumOff val="90000"/>
                </a:schemeClr>
              </a:solidFill>
            </a:endParaRPr>
          </a:p>
          <a:p>
            <a:r>
              <a:rPr lang="en-US" sz="1800" b="1" dirty="0">
                <a:solidFill>
                  <a:schemeClr val="bg2">
                    <a:lumMod val="10000"/>
                    <a:lumOff val="90000"/>
                  </a:schemeClr>
                </a:solidFill>
              </a:rPr>
              <a:t>Select :</a:t>
            </a:r>
            <a:r>
              <a:rPr lang="en-US" sz="1800" dirty="0">
                <a:solidFill>
                  <a:schemeClr val="bg2">
                    <a:lumMod val="10000"/>
                    <a:lumOff val="90000"/>
                  </a:schemeClr>
                </a:solidFill>
              </a:rPr>
              <a:t>Retrieve data from one or more tables in a database. </a:t>
            </a:r>
          </a:p>
          <a:p>
            <a:endParaRPr lang="en-US" sz="1800" dirty="0">
              <a:solidFill>
                <a:schemeClr val="bg2">
                  <a:lumMod val="10000"/>
                  <a:lumOff val="90000"/>
                </a:schemeClr>
              </a:solidFill>
            </a:endParaRPr>
          </a:p>
          <a:p>
            <a:r>
              <a:rPr lang="en-US" sz="1800" b="1" dirty="0">
                <a:solidFill>
                  <a:schemeClr val="bg2">
                    <a:lumMod val="10000"/>
                    <a:lumOff val="90000"/>
                  </a:schemeClr>
                </a:solidFill>
              </a:rPr>
              <a:t>Where : </a:t>
            </a:r>
            <a:r>
              <a:rPr lang="en-US" sz="1800" dirty="0">
                <a:solidFill>
                  <a:schemeClr val="bg2">
                    <a:lumMod val="10000"/>
                    <a:lumOff val="90000"/>
                  </a:schemeClr>
                </a:solidFill>
              </a:rPr>
              <a:t>This clause is commonly used </a:t>
            </a:r>
            <a:r>
              <a:rPr lang="en-US" dirty="0">
                <a:solidFill>
                  <a:schemeClr val="bg2">
                    <a:lumMod val="10000"/>
                    <a:lumOff val="90000"/>
                  </a:schemeClr>
                </a:solidFill>
              </a:rPr>
              <a:t>with</a:t>
            </a:r>
            <a:r>
              <a:rPr lang="en-US" sz="1800" dirty="0">
                <a:solidFill>
                  <a:schemeClr val="bg2">
                    <a:lumMod val="10000"/>
                    <a:lumOff val="90000"/>
                  </a:schemeClr>
                </a:solidFill>
              </a:rPr>
              <a:t> </a:t>
            </a:r>
            <a:r>
              <a:rPr lang="en-US" sz="1800" b="1" dirty="0">
                <a:solidFill>
                  <a:schemeClr val="bg2">
                    <a:lumMod val="10000"/>
                    <a:lumOff val="90000"/>
                  </a:schemeClr>
                </a:solidFill>
              </a:rPr>
              <a:t>SELECT</a:t>
            </a:r>
            <a:r>
              <a:rPr lang="en-US" sz="1800" dirty="0">
                <a:solidFill>
                  <a:schemeClr val="bg2">
                    <a:lumMod val="10000"/>
                    <a:lumOff val="90000"/>
                  </a:schemeClr>
                </a:solidFill>
              </a:rPr>
              <a:t>, </a:t>
            </a:r>
            <a:r>
              <a:rPr lang="en-US" sz="1800" b="1" dirty="0">
                <a:solidFill>
                  <a:schemeClr val="bg2">
                    <a:lumMod val="10000"/>
                    <a:lumOff val="90000"/>
                  </a:schemeClr>
                </a:solidFill>
              </a:rPr>
              <a:t>UPDATE</a:t>
            </a:r>
            <a:r>
              <a:rPr lang="en-US" sz="1800" dirty="0">
                <a:solidFill>
                  <a:schemeClr val="bg2">
                    <a:lumMod val="10000"/>
                    <a:lumOff val="90000"/>
                  </a:schemeClr>
                </a:solidFill>
              </a:rPr>
              <a:t>, and </a:t>
            </a:r>
            <a:r>
              <a:rPr lang="en-US" sz="1800" b="1" dirty="0">
                <a:solidFill>
                  <a:schemeClr val="bg2">
                    <a:lumMod val="10000"/>
                    <a:lumOff val="90000"/>
                  </a:schemeClr>
                </a:solidFill>
              </a:rPr>
              <a:t>DELETE</a:t>
            </a:r>
            <a:r>
              <a:rPr lang="en-US" sz="1800" dirty="0">
                <a:solidFill>
                  <a:schemeClr val="bg2">
                    <a:lumMod val="10000"/>
                    <a:lumOff val="90000"/>
                  </a:schemeClr>
                </a:solidFill>
              </a:rPr>
              <a:t> statements.</a:t>
            </a:r>
          </a:p>
          <a:p>
            <a:endParaRPr lang="en-US" sz="1800" dirty="0">
              <a:solidFill>
                <a:schemeClr val="bg2">
                  <a:lumMod val="10000"/>
                  <a:lumOff val="90000"/>
                </a:schemeClr>
              </a:solidFill>
            </a:endParaRPr>
          </a:p>
          <a:p>
            <a:r>
              <a:rPr lang="en-US" sz="1800" b="1" dirty="0">
                <a:solidFill>
                  <a:schemeClr val="bg2">
                    <a:lumMod val="10000"/>
                    <a:lumOff val="90000"/>
                  </a:schemeClr>
                </a:solidFill>
              </a:rPr>
              <a:t>Group By:</a:t>
            </a:r>
            <a:r>
              <a:rPr lang="en-US" sz="1800" dirty="0">
                <a:solidFill>
                  <a:schemeClr val="bg2">
                    <a:lumMod val="10000"/>
                    <a:lumOff val="90000"/>
                  </a:schemeClr>
                </a:solidFill>
              </a:rPr>
              <a:t> Is used to group rows that have the same values in specified columns into summary rows. </a:t>
            </a:r>
          </a:p>
          <a:p>
            <a:endParaRPr lang="en-US" sz="1800" dirty="0">
              <a:solidFill>
                <a:schemeClr val="bg2">
                  <a:lumMod val="10000"/>
                  <a:lumOff val="90000"/>
                </a:schemeClr>
              </a:solidFill>
            </a:endParaRPr>
          </a:p>
          <a:p>
            <a:r>
              <a:rPr lang="en-US" sz="1800" b="1" dirty="0">
                <a:solidFill>
                  <a:schemeClr val="bg2">
                    <a:lumMod val="10000"/>
                    <a:lumOff val="90000"/>
                  </a:schemeClr>
                </a:solidFill>
              </a:rPr>
              <a:t>Order By: </a:t>
            </a:r>
            <a:r>
              <a:rPr lang="en-US" sz="1800" dirty="0">
                <a:solidFill>
                  <a:schemeClr val="bg2">
                    <a:lumMod val="10000"/>
                    <a:lumOff val="90000"/>
                  </a:schemeClr>
                </a:solidFill>
              </a:rPr>
              <a:t>the ORDER BY clause is used to sort the rows in the result set of a query based on one or more columns.</a:t>
            </a:r>
          </a:p>
          <a:p>
            <a:r>
              <a:rPr lang="en-US" sz="1800" dirty="0">
                <a:solidFill>
                  <a:schemeClr val="bg2">
                    <a:lumMod val="10000"/>
                    <a:lumOff val="90000"/>
                  </a:schemeClr>
                </a:solidFill>
              </a:rPr>
              <a:t> By default, it sorts the data in ascending order. To sort in descending order, the DESC keyword is used.</a:t>
            </a:r>
          </a:p>
          <a:p>
            <a:endParaRPr lang="en-US" sz="1800" dirty="0">
              <a:solidFill>
                <a:schemeClr val="bg2">
                  <a:lumMod val="10000"/>
                  <a:lumOff val="90000"/>
                </a:schemeClr>
              </a:solidFill>
            </a:endParaRPr>
          </a:p>
          <a:p>
            <a:r>
              <a:rPr lang="en-US" b="1" dirty="0">
                <a:solidFill>
                  <a:schemeClr val="bg2">
                    <a:lumMod val="10000"/>
                    <a:lumOff val="90000"/>
                  </a:schemeClr>
                </a:solidFill>
              </a:rPr>
              <a:t>INNER JOIN: </a:t>
            </a:r>
            <a:r>
              <a:rPr lang="en-US" dirty="0">
                <a:solidFill>
                  <a:schemeClr val="bg2">
                    <a:lumMod val="10000"/>
                    <a:lumOff val="90000"/>
                  </a:schemeClr>
                </a:solidFill>
              </a:rPr>
              <a:t>Returns only the rows where there is a match in both tables</a:t>
            </a:r>
            <a:endParaRPr lang="en-US" sz="1800" dirty="0">
              <a:solidFill>
                <a:schemeClr val="bg2">
                  <a:lumMod val="10000"/>
                  <a:lumOff val="90000"/>
                </a:schemeClr>
              </a:solidFill>
            </a:endParaRPr>
          </a:p>
          <a:p>
            <a:endParaRPr lang="en-US" sz="1800" dirty="0">
              <a:solidFill>
                <a:schemeClr val="bg2">
                  <a:lumMod val="10000"/>
                  <a:lumOff val="90000"/>
                </a:schemeClr>
              </a:solidFill>
            </a:endParaRPr>
          </a:p>
        </p:txBody>
      </p:sp>
    </p:spTree>
    <p:extLst>
      <p:ext uri="{BB962C8B-B14F-4D97-AF65-F5344CB8AC3E}">
        <p14:creationId xmlns:p14="http://schemas.microsoft.com/office/powerpoint/2010/main" val="111446759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10E000-6A30-FAD2-05B7-9AB96BEB20A2}"/>
              </a:ext>
            </a:extLst>
          </p:cNvPr>
          <p:cNvSpPr txBox="1"/>
          <p:nvPr/>
        </p:nvSpPr>
        <p:spPr>
          <a:xfrm>
            <a:off x="4110605" y="167671"/>
            <a:ext cx="5050172" cy="769441"/>
          </a:xfrm>
          <a:prstGeom prst="rect">
            <a:avLst/>
          </a:prstGeom>
          <a:noFill/>
        </p:spPr>
        <p:txBody>
          <a:bodyPr wrap="square" rtlCol="0">
            <a:spAutoFit/>
          </a:bodyPr>
          <a:lstStyle/>
          <a:p>
            <a:r>
              <a:rPr lang="en-IN" sz="4400" b="1" dirty="0">
                <a:solidFill>
                  <a:schemeClr val="bg1"/>
                </a:solidFill>
              </a:rPr>
              <a:t>ER-DIAGRAM</a:t>
            </a:r>
          </a:p>
        </p:txBody>
      </p:sp>
      <p:pic>
        <p:nvPicPr>
          <p:cNvPr id="4" name="Picture 3">
            <a:extLst>
              <a:ext uri="{FF2B5EF4-FFF2-40B4-BE49-F238E27FC236}">
                <a16:creationId xmlns:a16="http://schemas.microsoft.com/office/drawing/2014/main" id="{1114AD1F-538C-6087-2147-BFE244C5B4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937112"/>
            <a:ext cx="9956800" cy="5476388"/>
          </a:xfrm>
          <a:prstGeom prst="rect">
            <a:avLst/>
          </a:prstGeom>
        </p:spPr>
      </p:pic>
    </p:spTree>
    <p:extLst>
      <p:ext uri="{BB962C8B-B14F-4D97-AF65-F5344CB8AC3E}">
        <p14:creationId xmlns:p14="http://schemas.microsoft.com/office/powerpoint/2010/main" val="230695754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780ED8-1105-F2E1-5FA2-AD55EEB01ADE}"/>
              </a:ext>
            </a:extLst>
          </p:cNvPr>
          <p:cNvSpPr txBox="1"/>
          <p:nvPr/>
        </p:nvSpPr>
        <p:spPr>
          <a:xfrm>
            <a:off x="704675" y="260058"/>
            <a:ext cx="10268125" cy="4031873"/>
          </a:xfrm>
          <a:prstGeom prst="rect">
            <a:avLst/>
          </a:prstGeom>
          <a:noFill/>
        </p:spPr>
        <p:txBody>
          <a:bodyPr wrap="square">
            <a:spAutoFit/>
          </a:bodyPr>
          <a:lstStyle/>
          <a:p>
            <a:r>
              <a:rPr lang="en-IN" dirty="0"/>
              <a:t>Before creating any  tables in </a:t>
            </a:r>
            <a:r>
              <a:rPr lang="en-IN" dirty="0" err="1"/>
              <a:t>mysql</a:t>
            </a:r>
            <a:r>
              <a:rPr lang="en-IN" dirty="0"/>
              <a:t> we need to specify a schema(database) or we can create it and then use that specific schema in which we want to create a table and perform operations.</a:t>
            </a:r>
          </a:p>
          <a:p>
            <a:r>
              <a:rPr lang="en-IN" dirty="0"/>
              <a:t> for creating schema we use:</a:t>
            </a:r>
          </a:p>
          <a:p>
            <a:r>
              <a:rPr lang="en-IN" dirty="0"/>
              <a:t>    </a:t>
            </a:r>
          </a:p>
          <a:p>
            <a:r>
              <a:rPr lang="en-IN" sz="2000" b="1" dirty="0"/>
              <a:t>   create schema </a:t>
            </a:r>
            <a:r>
              <a:rPr lang="en-IN" sz="2000" b="1" dirty="0" err="1"/>
              <a:t>schema_name</a:t>
            </a:r>
            <a:r>
              <a:rPr lang="en-IN" sz="2000" b="1" dirty="0"/>
              <a:t>;</a:t>
            </a:r>
          </a:p>
          <a:p>
            <a:r>
              <a:rPr lang="en-IN" dirty="0"/>
              <a:t>   </a:t>
            </a:r>
          </a:p>
          <a:p>
            <a:r>
              <a:rPr lang="en-IN" sz="2000" b="1" dirty="0"/>
              <a:t>Ex : </a:t>
            </a:r>
            <a:r>
              <a:rPr lang="en-IN" dirty="0"/>
              <a:t>create schema </a:t>
            </a:r>
            <a:r>
              <a:rPr lang="en-IN" dirty="0" err="1"/>
              <a:t>my_database</a:t>
            </a:r>
            <a:r>
              <a:rPr lang="en-IN" dirty="0"/>
              <a:t>;</a:t>
            </a:r>
          </a:p>
          <a:p>
            <a:endParaRPr lang="en-IN" dirty="0"/>
          </a:p>
          <a:p>
            <a:r>
              <a:rPr lang="en-IN" dirty="0"/>
              <a:t> for using this schema we can use:</a:t>
            </a:r>
          </a:p>
          <a:p>
            <a:endParaRPr lang="en-IN" dirty="0"/>
          </a:p>
          <a:p>
            <a:r>
              <a:rPr lang="en-IN" dirty="0"/>
              <a:t>   </a:t>
            </a:r>
            <a:r>
              <a:rPr lang="en-IN" sz="2000" b="1" dirty="0"/>
              <a:t>use </a:t>
            </a:r>
            <a:r>
              <a:rPr lang="en-IN" sz="2000" b="1" dirty="0" err="1"/>
              <a:t>my_database</a:t>
            </a:r>
            <a:r>
              <a:rPr lang="en-IN" sz="2000" b="1" dirty="0"/>
              <a:t>;</a:t>
            </a:r>
          </a:p>
          <a:p>
            <a:endParaRPr lang="en-IN" dirty="0"/>
          </a:p>
          <a:p>
            <a:r>
              <a:rPr lang="en-IN" dirty="0"/>
              <a:t> Now lets begin with creating tables </a:t>
            </a:r>
          </a:p>
          <a:p>
            <a:endParaRPr lang="en-IN" dirty="0"/>
          </a:p>
        </p:txBody>
      </p:sp>
      <p:sp>
        <p:nvSpPr>
          <p:cNvPr id="14" name="TextBox 13">
            <a:extLst>
              <a:ext uri="{FF2B5EF4-FFF2-40B4-BE49-F238E27FC236}">
                <a16:creationId xmlns:a16="http://schemas.microsoft.com/office/drawing/2014/main" id="{EE67B297-77FD-7E12-62C8-0B630AD04B2F}"/>
              </a:ext>
            </a:extLst>
          </p:cNvPr>
          <p:cNvSpPr txBox="1"/>
          <p:nvPr/>
        </p:nvSpPr>
        <p:spPr>
          <a:xfrm>
            <a:off x="1291906" y="4605556"/>
            <a:ext cx="8172974" cy="1754326"/>
          </a:xfrm>
          <a:prstGeom prst="rect">
            <a:avLst/>
          </a:prstGeom>
          <a:noFill/>
        </p:spPr>
        <p:txBody>
          <a:bodyPr wrap="square">
            <a:spAutoFit/>
          </a:bodyPr>
          <a:lstStyle/>
          <a:p>
            <a:r>
              <a:rPr lang="en-IN" dirty="0"/>
              <a:t>1) Brands table — Stores company/brand names</a:t>
            </a:r>
          </a:p>
          <a:p>
            <a:endParaRPr lang="en-IN" dirty="0"/>
          </a:p>
          <a:p>
            <a:r>
              <a:rPr lang="en-IN" dirty="0"/>
              <a:t>CREATE TABLE Brands (</a:t>
            </a:r>
          </a:p>
          <a:p>
            <a:r>
              <a:rPr lang="en-IN" dirty="0"/>
              <a:t>    </a:t>
            </a:r>
            <a:r>
              <a:rPr lang="en-IN" dirty="0" err="1"/>
              <a:t>brand_id</a:t>
            </a:r>
            <a:r>
              <a:rPr lang="en-IN" dirty="0"/>
              <a:t> INT AUTO_INCREMENT PRIMARY KEY,</a:t>
            </a:r>
          </a:p>
          <a:p>
            <a:r>
              <a:rPr lang="en-IN" dirty="0"/>
              <a:t>    </a:t>
            </a:r>
            <a:r>
              <a:rPr lang="en-IN" dirty="0" err="1"/>
              <a:t>brand_name</a:t>
            </a:r>
            <a:r>
              <a:rPr lang="en-IN" dirty="0"/>
              <a:t> VARCHAR(50) NOT NULL UNIQUE</a:t>
            </a:r>
          </a:p>
          <a:p>
            <a:r>
              <a:rPr lang="en-IN" dirty="0"/>
              <a:t>);</a:t>
            </a:r>
          </a:p>
        </p:txBody>
      </p:sp>
    </p:spTree>
    <p:extLst>
      <p:ext uri="{BB962C8B-B14F-4D97-AF65-F5344CB8AC3E}">
        <p14:creationId xmlns:p14="http://schemas.microsoft.com/office/powerpoint/2010/main" val="146076718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CC5CAD-5BE6-A355-3B66-1616813228DB}"/>
              </a:ext>
            </a:extLst>
          </p:cNvPr>
          <p:cNvSpPr txBox="1"/>
          <p:nvPr/>
        </p:nvSpPr>
        <p:spPr>
          <a:xfrm>
            <a:off x="1146495" y="366898"/>
            <a:ext cx="9899009" cy="6309420"/>
          </a:xfrm>
          <a:prstGeom prst="rect">
            <a:avLst/>
          </a:prstGeom>
          <a:noFill/>
        </p:spPr>
        <p:txBody>
          <a:bodyPr wrap="square">
            <a:spAutoFit/>
          </a:bodyPr>
          <a:lstStyle/>
          <a:p>
            <a:r>
              <a:rPr lang="en-IN" sz="2000" b="1" dirty="0"/>
              <a:t>2) Models table — Stores model name, brand reference, and launch year</a:t>
            </a:r>
          </a:p>
          <a:p>
            <a:endParaRPr lang="en-IN" sz="2000" b="1" dirty="0"/>
          </a:p>
          <a:p>
            <a:r>
              <a:rPr lang="en-IN" dirty="0"/>
              <a:t>CREATE TABLE Models (</a:t>
            </a:r>
          </a:p>
          <a:p>
            <a:r>
              <a:rPr lang="en-IN" dirty="0"/>
              <a:t>    </a:t>
            </a:r>
            <a:r>
              <a:rPr lang="en-IN" dirty="0" err="1"/>
              <a:t>model_id</a:t>
            </a:r>
            <a:r>
              <a:rPr lang="en-IN" dirty="0"/>
              <a:t> INT AUTO_INCREMENT PRIMARY KEY,</a:t>
            </a:r>
          </a:p>
          <a:p>
            <a:r>
              <a:rPr lang="en-IN" dirty="0"/>
              <a:t>    </a:t>
            </a:r>
            <a:r>
              <a:rPr lang="en-IN" dirty="0" err="1"/>
              <a:t>brand_id</a:t>
            </a:r>
            <a:r>
              <a:rPr lang="en-IN" dirty="0"/>
              <a:t> INT NOT NULL,</a:t>
            </a:r>
          </a:p>
          <a:p>
            <a:r>
              <a:rPr lang="en-IN" dirty="0"/>
              <a:t>    </a:t>
            </a:r>
            <a:r>
              <a:rPr lang="en-IN" dirty="0" err="1"/>
              <a:t>model_name</a:t>
            </a:r>
            <a:r>
              <a:rPr lang="en-IN" dirty="0"/>
              <a:t> VARCHAR(100) NOT NULL,</a:t>
            </a:r>
          </a:p>
          <a:p>
            <a:r>
              <a:rPr lang="en-IN" dirty="0"/>
              <a:t>    </a:t>
            </a:r>
            <a:r>
              <a:rPr lang="en-IN" dirty="0" err="1"/>
              <a:t>launch_year</a:t>
            </a:r>
            <a:r>
              <a:rPr lang="en-IN" dirty="0"/>
              <a:t> YEAR NOT NULL,</a:t>
            </a:r>
          </a:p>
          <a:p>
            <a:r>
              <a:rPr lang="en-IN" dirty="0"/>
              <a:t>    FOREIGN KEY (</a:t>
            </a:r>
            <a:r>
              <a:rPr lang="en-IN" dirty="0" err="1"/>
              <a:t>brand_id</a:t>
            </a:r>
            <a:r>
              <a:rPr lang="en-IN" dirty="0"/>
              <a:t>) REFERENCES Brands(</a:t>
            </a:r>
            <a:r>
              <a:rPr lang="en-IN" dirty="0" err="1"/>
              <a:t>brand_id</a:t>
            </a:r>
            <a:r>
              <a:rPr lang="en-IN" dirty="0"/>
              <a:t>));</a:t>
            </a:r>
          </a:p>
          <a:p>
            <a:endParaRPr lang="en-IN" dirty="0"/>
          </a:p>
          <a:p>
            <a:r>
              <a:rPr lang="en-IN" sz="2000" b="1" dirty="0"/>
              <a:t>3) Specifications table — Stores the technical specifications of each model</a:t>
            </a:r>
          </a:p>
          <a:p>
            <a:endParaRPr lang="en-IN" sz="2000" b="1" dirty="0"/>
          </a:p>
          <a:p>
            <a:r>
              <a:rPr lang="en-IN" dirty="0"/>
              <a:t>CREATE TABLE Specifications (</a:t>
            </a:r>
          </a:p>
          <a:p>
            <a:r>
              <a:rPr lang="en-IN" dirty="0"/>
              <a:t>    </a:t>
            </a:r>
            <a:r>
              <a:rPr lang="en-IN" dirty="0" err="1"/>
              <a:t>spec_id</a:t>
            </a:r>
            <a:r>
              <a:rPr lang="en-IN" dirty="0"/>
              <a:t> INT AUTO_INCREMENT PRIMARY KEY,</a:t>
            </a:r>
          </a:p>
          <a:p>
            <a:r>
              <a:rPr lang="en-IN" dirty="0"/>
              <a:t>    </a:t>
            </a:r>
            <a:r>
              <a:rPr lang="en-IN" dirty="0" err="1"/>
              <a:t>model_id</a:t>
            </a:r>
            <a:r>
              <a:rPr lang="en-IN" dirty="0"/>
              <a:t> INT NOT NULL,</a:t>
            </a:r>
          </a:p>
          <a:p>
            <a:r>
              <a:rPr lang="en-IN" dirty="0"/>
              <a:t>    </a:t>
            </a:r>
            <a:r>
              <a:rPr lang="en-IN" dirty="0" err="1"/>
              <a:t>mobile_weight_grams</a:t>
            </a:r>
            <a:r>
              <a:rPr lang="en-IN" dirty="0"/>
              <a:t> DECIMAL(6,2),</a:t>
            </a:r>
          </a:p>
          <a:p>
            <a:r>
              <a:rPr lang="en-IN" dirty="0"/>
              <a:t>    </a:t>
            </a:r>
            <a:r>
              <a:rPr lang="en-IN" dirty="0" err="1"/>
              <a:t>ram_gb</a:t>
            </a:r>
            <a:r>
              <a:rPr lang="en-IN" dirty="0"/>
              <a:t> INT,</a:t>
            </a:r>
          </a:p>
          <a:p>
            <a:r>
              <a:rPr lang="en-IN" dirty="0"/>
              <a:t>    </a:t>
            </a:r>
            <a:r>
              <a:rPr lang="en-IN" dirty="0" err="1"/>
              <a:t>front_camera_mp</a:t>
            </a:r>
            <a:r>
              <a:rPr lang="en-IN" dirty="0"/>
              <a:t> VARCHAR(50),</a:t>
            </a:r>
          </a:p>
          <a:p>
            <a:r>
              <a:rPr lang="en-IN" dirty="0"/>
              <a:t>    </a:t>
            </a:r>
            <a:r>
              <a:rPr lang="en-IN" dirty="0" err="1"/>
              <a:t>back_camera_mp</a:t>
            </a:r>
            <a:r>
              <a:rPr lang="en-IN" dirty="0"/>
              <a:t> VARCHAR(100),</a:t>
            </a:r>
          </a:p>
          <a:p>
            <a:r>
              <a:rPr lang="en-IN" dirty="0"/>
              <a:t>    processor VARCHAR(100),</a:t>
            </a:r>
          </a:p>
          <a:p>
            <a:r>
              <a:rPr lang="en-IN" dirty="0"/>
              <a:t>    </a:t>
            </a:r>
            <a:r>
              <a:rPr lang="en-IN" dirty="0" err="1"/>
              <a:t>battery_capacity_mah</a:t>
            </a:r>
            <a:r>
              <a:rPr lang="en-IN" dirty="0"/>
              <a:t> VARCHAR(20),</a:t>
            </a:r>
          </a:p>
          <a:p>
            <a:r>
              <a:rPr lang="en-IN" dirty="0"/>
              <a:t>    </a:t>
            </a:r>
            <a:r>
              <a:rPr lang="en-IN" dirty="0" err="1"/>
              <a:t>screen_size_inches</a:t>
            </a:r>
            <a:r>
              <a:rPr lang="en-IN" dirty="0"/>
              <a:t> DECIMAL(4,2),</a:t>
            </a:r>
          </a:p>
          <a:p>
            <a:r>
              <a:rPr lang="en-IN" dirty="0"/>
              <a:t>    FOREIGN KEY (</a:t>
            </a:r>
            <a:r>
              <a:rPr lang="en-IN" dirty="0" err="1"/>
              <a:t>model_id</a:t>
            </a:r>
            <a:r>
              <a:rPr lang="en-IN" dirty="0"/>
              <a:t>) REFERENCES Models(</a:t>
            </a:r>
            <a:r>
              <a:rPr lang="en-IN" dirty="0" err="1"/>
              <a:t>model_id</a:t>
            </a:r>
            <a:r>
              <a:rPr lang="en-IN" dirty="0"/>
              <a:t>));</a:t>
            </a:r>
          </a:p>
        </p:txBody>
      </p:sp>
    </p:spTree>
    <p:extLst>
      <p:ext uri="{BB962C8B-B14F-4D97-AF65-F5344CB8AC3E}">
        <p14:creationId xmlns:p14="http://schemas.microsoft.com/office/powerpoint/2010/main" val="341098516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70D6F2-4A1D-F720-FCC3-A088D8175A26}"/>
              </a:ext>
            </a:extLst>
          </p:cNvPr>
          <p:cNvSpPr txBox="1"/>
          <p:nvPr/>
        </p:nvSpPr>
        <p:spPr>
          <a:xfrm>
            <a:off x="1122028" y="171136"/>
            <a:ext cx="6646178" cy="2646878"/>
          </a:xfrm>
          <a:prstGeom prst="rect">
            <a:avLst/>
          </a:prstGeom>
          <a:noFill/>
        </p:spPr>
        <p:txBody>
          <a:bodyPr wrap="square">
            <a:spAutoFit/>
          </a:bodyPr>
          <a:lstStyle/>
          <a:p>
            <a:r>
              <a:rPr lang="en-IN" sz="2000" b="1" dirty="0"/>
              <a:t>4) Prices table — Stores launch prices in different countries</a:t>
            </a:r>
          </a:p>
          <a:p>
            <a:endParaRPr lang="en-IN" sz="2000" b="1" dirty="0"/>
          </a:p>
          <a:p>
            <a:r>
              <a:rPr lang="en-IN" dirty="0"/>
              <a:t>CREATE TABLE Prices (</a:t>
            </a:r>
          </a:p>
          <a:p>
            <a:r>
              <a:rPr lang="en-IN" dirty="0"/>
              <a:t>    </a:t>
            </a:r>
            <a:r>
              <a:rPr lang="en-IN" dirty="0" err="1"/>
              <a:t>price_id</a:t>
            </a:r>
            <a:r>
              <a:rPr lang="en-IN" dirty="0"/>
              <a:t> INT AUTO_INCREMENT PRIMARY KEY,</a:t>
            </a:r>
          </a:p>
          <a:p>
            <a:r>
              <a:rPr lang="en-IN" dirty="0"/>
              <a:t>    </a:t>
            </a:r>
            <a:r>
              <a:rPr lang="en-IN" dirty="0" err="1"/>
              <a:t>model_id</a:t>
            </a:r>
            <a:r>
              <a:rPr lang="en-IN" dirty="0"/>
              <a:t> INT NOT NULL,</a:t>
            </a:r>
          </a:p>
          <a:p>
            <a:r>
              <a:rPr lang="en-IN" dirty="0"/>
              <a:t>    </a:t>
            </a:r>
            <a:r>
              <a:rPr lang="en-IN" dirty="0" err="1"/>
              <a:t>price_india</a:t>
            </a:r>
            <a:r>
              <a:rPr lang="en-IN" dirty="0"/>
              <a:t> DECIMAL(10,2),</a:t>
            </a:r>
          </a:p>
          <a:p>
            <a:r>
              <a:rPr lang="en-IN" dirty="0"/>
              <a:t>    </a:t>
            </a:r>
            <a:r>
              <a:rPr lang="en-IN" dirty="0" err="1"/>
              <a:t>price_china</a:t>
            </a:r>
            <a:r>
              <a:rPr lang="en-IN" dirty="0"/>
              <a:t> DECIMAL(10,2),</a:t>
            </a:r>
          </a:p>
          <a:p>
            <a:r>
              <a:rPr lang="en-IN" dirty="0"/>
              <a:t>    </a:t>
            </a:r>
            <a:r>
              <a:rPr lang="en-IN" dirty="0" err="1"/>
              <a:t>price_usa</a:t>
            </a:r>
            <a:r>
              <a:rPr lang="en-IN" dirty="0"/>
              <a:t> DECIMAL(10,2),</a:t>
            </a:r>
          </a:p>
          <a:p>
            <a:r>
              <a:rPr lang="en-IN" dirty="0"/>
              <a:t>    FOREIGN KEY (</a:t>
            </a:r>
            <a:r>
              <a:rPr lang="en-IN" dirty="0" err="1"/>
              <a:t>model_id</a:t>
            </a:r>
            <a:r>
              <a:rPr lang="en-IN" dirty="0"/>
              <a:t>) REFERENCES Models(</a:t>
            </a:r>
            <a:r>
              <a:rPr lang="en-IN" dirty="0" err="1"/>
              <a:t>model_id</a:t>
            </a:r>
            <a:r>
              <a:rPr lang="en-IN" dirty="0"/>
              <a:t>) );</a:t>
            </a:r>
          </a:p>
        </p:txBody>
      </p:sp>
      <p:sp>
        <p:nvSpPr>
          <p:cNvPr id="5" name="TextBox 4">
            <a:extLst>
              <a:ext uri="{FF2B5EF4-FFF2-40B4-BE49-F238E27FC236}">
                <a16:creationId xmlns:a16="http://schemas.microsoft.com/office/drawing/2014/main" id="{290EB084-6BAF-1873-9502-6775B8C2F1FB}"/>
              </a:ext>
            </a:extLst>
          </p:cNvPr>
          <p:cNvSpPr txBox="1"/>
          <p:nvPr/>
        </p:nvSpPr>
        <p:spPr>
          <a:xfrm>
            <a:off x="1191237" y="2610683"/>
            <a:ext cx="8122640" cy="4339650"/>
          </a:xfrm>
          <a:prstGeom prst="rect">
            <a:avLst/>
          </a:prstGeom>
          <a:noFill/>
        </p:spPr>
        <p:txBody>
          <a:bodyPr wrap="square">
            <a:spAutoFit/>
          </a:bodyPr>
          <a:lstStyle/>
          <a:p>
            <a:endParaRPr lang="en-IN" dirty="0"/>
          </a:p>
          <a:p>
            <a:r>
              <a:rPr lang="en-IN" sz="2000" b="1" dirty="0"/>
              <a:t>INSERTING DATA INTO TABLES:</a:t>
            </a:r>
          </a:p>
          <a:p>
            <a:endParaRPr lang="en-IN" sz="2000" b="1" dirty="0"/>
          </a:p>
          <a:p>
            <a:r>
              <a:rPr lang="en-IN" sz="2000" b="1" dirty="0"/>
              <a:t>1-insert brands</a:t>
            </a:r>
          </a:p>
          <a:p>
            <a:endParaRPr lang="en-IN" dirty="0"/>
          </a:p>
          <a:p>
            <a:r>
              <a:rPr lang="en-IN" dirty="0"/>
              <a:t>INSERT INTO Brands (</a:t>
            </a:r>
            <a:r>
              <a:rPr lang="en-IN" dirty="0" err="1"/>
              <a:t>brand_name</a:t>
            </a:r>
            <a:r>
              <a:rPr lang="en-IN" dirty="0"/>
              <a:t>) VALUES</a:t>
            </a:r>
          </a:p>
          <a:p>
            <a:r>
              <a:rPr lang="en-IN" dirty="0"/>
              <a:t>('Apple'),</a:t>
            </a:r>
          </a:p>
          <a:p>
            <a:r>
              <a:rPr lang="en-IN" dirty="0"/>
              <a:t>('Samsung'),</a:t>
            </a:r>
          </a:p>
          <a:p>
            <a:r>
              <a:rPr lang="en-IN" dirty="0"/>
              <a:t>('OnePlus'),</a:t>
            </a:r>
          </a:p>
          <a:p>
            <a:r>
              <a:rPr lang="en-IN" dirty="0"/>
              <a:t>('Xiaomi'),</a:t>
            </a:r>
          </a:p>
          <a:p>
            <a:r>
              <a:rPr lang="en-IN" dirty="0"/>
              <a:t>('Realme'),</a:t>
            </a:r>
          </a:p>
          <a:p>
            <a:r>
              <a:rPr lang="en-IN" dirty="0"/>
              <a:t>('Vivo'),</a:t>
            </a:r>
          </a:p>
          <a:p>
            <a:r>
              <a:rPr lang="en-IN" dirty="0"/>
              <a:t>('</a:t>
            </a:r>
            <a:r>
              <a:rPr lang="en-IN" dirty="0" err="1"/>
              <a:t>iQOO</a:t>
            </a:r>
            <a:r>
              <a:rPr lang="en-IN" dirty="0"/>
              <a:t>'),</a:t>
            </a:r>
          </a:p>
          <a:p>
            <a:r>
              <a:rPr lang="en-IN" dirty="0"/>
              <a:t>('Oppo'),</a:t>
            </a:r>
          </a:p>
          <a:p>
            <a:endParaRPr lang="en-IN" dirty="0"/>
          </a:p>
        </p:txBody>
      </p:sp>
      <p:pic>
        <p:nvPicPr>
          <p:cNvPr id="4" name="Picture 3">
            <a:extLst>
              <a:ext uri="{FF2B5EF4-FFF2-40B4-BE49-F238E27FC236}">
                <a16:creationId xmlns:a16="http://schemas.microsoft.com/office/drawing/2014/main" id="{E4E84BBE-1448-C640-1224-EF2141C5D2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5800" y="1193800"/>
            <a:ext cx="4191000" cy="5092700"/>
          </a:xfrm>
          <a:prstGeom prst="rect">
            <a:avLst/>
          </a:prstGeom>
        </p:spPr>
      </p:pic>
    </p:spTree>
    <p:extLst>
      <p:ext uri="{BB962C8B-B14F-4D97-AF65-F5344CB8AC3E}">
        <p14:creationId xmlns:p14="http://schemas.microsoft.com/office/powerpoint/2010/main" val="244645849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E6E535-1137-FAAF-D2A7-28D87ACAA0EB}"/>
              </a:ext>
            </a:extLst>
          </p:cNvPr>
          <p:cNvSpPr txBox="1"/>
          <p:nvPr/>
        </p:nvSpPr>
        <p:spPr>
          <a:xfrm>
            <a:off x="1090569" y="14994"/>
            <a:ext cx="8315587" cy="2862322"/>
          </a:xfrm>
          <a:prstGeom prst="rect">
            <a:avLst/>
          </a:prstGeom>
          <a:noFill/>
        </p:spPr>
        <p:txBody>
          <a:bodyPr wrap="square">
            <a:spAutoFit/>
          </a:bodyPr>
          <a:lstStyle/>
          <a:p>
            <a:r>
              <a:rPr lang="en-IN" dirty="0"/>
              <a:t>('Lenovo'),</a:t>
            </a:r>
          </a:p>
          <a:p>
            <a:r>
              <a:rPr lang="en-IN" dirty="0"/>
              <a:t>('Motorola'),</a:t>
            </a:r>
          </a:p>
          <a:p>
            <a:r>
              <a:rPr lang="en-IN" dirty="0"/>
              <a:t>('Huawei'),</a:t>
            </a:r>
          </a:p>
          <a:p>
            <a:r>
              <a:rPr lang="en-IN" dirty="0"/>
              <a:t>('Google'),</a:t>
            </a:r>
          </a:p>
          <a:p>
            <a:r>
              <a:rPr lang="en-IN" dirty="0"/>
              <a:t>('</a:t>
            </a:r>
            <a:r>
              <a:rPr lang="en-IN" dirty="0" err="1"/>
              <a:t>Tecno</a:t>
            </a:r>
            <a:r>
              <a:rPr lang="en-IN" dirty="0"/>
              <a:t>'),</a:t>
            </a:r>
          </a:p>
          <a:p>
            <a:r>
              <a:rPr lang="en-IN" dirty="0"/>
              <a:t>('</a:t>
            </a:r>
            <a:r>
              <a:rPr lang="en-IN" dirty="0" err="1"/>
              <a:t>Infinix</a:t>
            </a:r>
            <a:r>
              <a:rPr lang="en-IN" dirty="0"/>
              <a:t>'),</a:t>
            </a:r>
          </a:p>
          <a:p>
            <a:r>
              <a:rPr lang="en-IN" dirty="0"/>
              <a:t>('Honor'),</a:t>
            </a:r>
          </a:p>
          <a:p>
            <a:r>
              <a:rPr lang="en-IN" dirty="0"/>
              <a:t>('Nokia'),</a:t>
            </a:r>
          </a:p>
          <a:p>
            <a:r>
              <a:rPr lang="en-IN" dirty="0"/>
              <a:t>('Sony'),</a:t>
            </a:r>
          </a:p>
          <a:p>
            <a:r>
              <a:rPr lang="en-IN" dirty="0"/>
              <a:t>('POCO');</a:t>
            </a:r>
          </a:p>
        </p:txBody>
      </p:sp>
      <p:sp>
        <p:nvSpPr>
          <p:cNvPr id="7" name="TextBox 6">
            <a:extLst>
              <a:ext uri="{FF2B5EF4-FFF2-40B4-BE49-F238E27FC236}">
                <a16:creationId xmlns:a16="http://schemas.microsoft.com/office/drawing/2014/main" id="{A64549E1-6E3F-7A31-6498-0B9AE96082ED}"/>
              </a:ext>
            </a:extLst>
          </p:cNvPr>
          <p:cNvSpPr txBox="1"/>
          <p:nvPr/>
        </p:nvSpPr>
        <p:spPr>
          <a:xfrm>
            <a:off x="796954" y="3003259"/>
            <a:ext cx="8399477" cy="3724096"/>
          </a:xfrm>
          <a:prstGeom prst="rect">
            <a:avLst/>
          </a:prstGeom>
          <a:noFill/>
        </p:spPr>
        <p:txBody>
          <a:bodyPr wrap="square">
            <a:spAutoFit/>
          </a:bodyPr>
          <a:lstStyle/>
          <a:p>
            <a:r>
              <a:rPr lang="en-IN" sz="2000" b="1" dirty="0"/>
              <a:t>2-Insert models</a:t>
            </a:r>
          </a:p>
          <a:p>
            <a:endParaRPr lang="en-IN" dirty="0"/>
          </a:p>
          <a:p>
            <a:r>
              <a:rPr lang="en-IN" dirty="0"/>
              <a:t>INSERT INTO Models (</a:t>
            </a:r>
            <a:r>
              <a:rPr lang="en-IN" dirty="0" err="1"/>
              <a:t>brand_id</a:t>
            </a:r>
            <a:r>
              <a:rPr lang="en-IN" dirty="0"/>
              <a:t>, </a:t>
            </a:r>
            <a:r>
              <a:rPr lang="en-IN" dirty="0" err="1"/>
              <a:t>model_name</a:t>
            </a:r>
            <a:r>
              <a:rPr lang="en-IN" dirty="0"/>
              <a:t>, </a:t>
            </a:r>
            <a:r>
              <a:rPr lang="en-IN" dirty="0" err="1"/>
              <a:t>launch_year</a:t>
            </a:r>
            <a:r>
              <a:rPr lang="en-IN" dirty="0"/>
              <a:t>) VALUES</a:t>
            </a:r>
          </a:p>
          <a:p>
            <a:r>
              <a:rPr lang="en-IN" dirty="0"/>
              <a:t>(1, 'iPhone 16 Plus 128GB', 2024),</a:t>
            </a:r>
          </a:p>
          <a:p>
            <a:r>
              <a:rPr lang="en-IN" dirty="0"/>
              <a:t>(1, 'iPhone 16 Pro Max 256GB', 2024),</a:t>
            </a:r>
          </a:p>
          <a:p>
            <a:r>
              <a:rPr lang="en-IN" dirty="0"/>
              <a:t>(2, 'Galaxy S24 Ultra 256GB', 2024),</a:t>
            </a:r>
          </a:p>
          <a:p>
            <a:r>
              <a:rPr lang="en-IN" dirty="0"/>
              <a:t>(2, 'Galaxy Z Flip 5 512GB', 2023),</a:t>
            </a:r>
          </a:p>
          <a:p>
            <a:r>
              <a:rPr lang="en-IN" dirty="0"/>
              <a:t>(3, 'OnePlus 12 256GB', 2024),</a:t>
            </a:r>
          </a:p>
          <a:p>
            <a:r>
              <a:rPr lang="en-IN" dirty="0"/>
              <a:t>(3, 'OnePlus Open 256GB', 2024),</a:t>
            </a:r>
          </a:p>
          <a:p>
            <a:r>
              <a:rPr lang="en-IN" dirty="0"/>
              <a:t>(4, 'Xiaomi 15 Pro 256GB', 2024),</a:t>
            </a:r>
          </a:p>
          <a:p>
            <a:r>
              <a:rPr lang="en-IN" dirty="0"/>
              <a:t>(4, 'Redmi Note 14 Pro+ 5G 512GB', 2024),</a:t>
            </a:r>
          </a:p>
          <a:p>
            <a:r>
              <a:rPr lang="en-IN" dirty="0"/>
              <a:t>(5, 'GT 7 Pro 128GB', 2024),</a:t>
            </a:r>
          </a:p>
          <a:p>
            <a:r>
              <a:rPr lang="en-IN" dirty="0"/>
              <a:t>(5, '14 Pro+ 5G 512GB', 2025);</a:t>
            </a:r>
          </a:p>
        </p:txBody>
      </p:sp>
      <p:sp>
        <p:nvSpPr>
          <p:cNvPr id="9" name="TextBox 8">
            <a:extLst>
              <a:ext uri="{FF2B5EF4-FFF2-40B4-BE49-F238E27FC236}">
                <a16:creationId xmlns:a16="http://schemas.microsoft.com/office/drawing/2014/main" id="{CA1BEA92-4886-1C9F-0F14-A26ED69E87FA}"/>
              </a:ext>
            </a:extLst>
          </p:cNvPr>
          <p:cNvSpPr txBox="1"/>
          <p:nvPr/>
        </p:nvSpPr>
        <p:spPr>
          <a:xfrm>
            <a:off x="3103927" y="1644134"/>
            <a:ext cx="2256639" cy="369332"/>
          </a:xfrm>
          <a:prstGeom prst="rect">
            <a:avLst/>
          </a:prstGeom>
          <a:noFill/>
        </p:spPr>
        <p:txBody>
          <a:bodyPr wrap="square">
            <a:spAutoFit/>
          </a:bodyPr>
          <a:lstStyle/>
          <a:p>
            <a:r>
              <a:rPr lang="en-IN" dirty="0"/>
              <a:t>select * from  Brands;</a:t>
            </a:r>
          </a:p>
        </p:txBody>
      </p:sp>
      <p:sp>
        <p:nvSpPr>
          <p:cNvPr id="11" name="TextBox 10">
            <a:extLst>
              <a:ext uri="{FF2B5EF4-FFF2-40B4-BE49-F238E27FC236}">
                <a16:creationId xmlns:a16="http://schemas.microsoft.com/office/drawing/2014/main" id="{7787B200-EFC0-E69B-E06C-3B3474976989}"/>
              </a:ext>
            </a:extLst>
          </p:cNvPr>
          <p:cNvSpPr txBox="1"/>
          <p:nvPr/>
        </p:nvSpPr>
        <p:spPr>
          <a:xfrm>
            <a:off x="4704127" y="4726808"/>
            <a:ext cx="6102990" cy="369332"/>
          </a:xfrm>
          <a:prstGeom prst="rect">
            <a:avLst/>
          </a:prstGeom>
          <a:noFill/>
        </p:spPr>
        <p:txBody>
          <a:bodyPr wrap="square">
            <a:spAutoFit/>
          </a:bodyPr>
          <a:lstStyle/>
          <a:p>
            <a:r>
              <a:rPr lang="en-IN" dirty="0"/>
              <a:t>select * from  Models ;</a:t>
            </a:r>
          </a:p>
        </p:txBody>
      </p:sp>
      <p:pic>
        <p:nvPicPr>
          <p:cNvPr id="4" name="Picture 3">
            <a:extLst>
              <a:ext uri="{FF2B5EF4-FFF2-40B4-BE49-F238E27FC236}">
                <a16:creationId xmlns:a16="http://schemas.microsoft.com/office/drawing/2014/main" id="{61FD7BE1-5CDB-F053-5A8B-29C3B8A77D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4700" y="1401820"/>
            <a:ext cx="4648200" cy="4731164"/>
          </a:xfrm>
          <a:prstGeom prst="rect">
            <a:avLst/>
          </a:prstGeom>
        </p:spPr>
      </p:pic>
    </p:spTree>
    <p:extLst>
      <p:ext uri="{BB962C8B-B14F-4D97-AF65-F5344CB8AC3E}">
        <p14:creationId xmlns:p14="http://schemas.microsoft.com/office/powerpoint/2010/main" val="139613908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CD15D0-57D1-723F-CFE6-2DA169701F9C}"/>
              </a:ext>
            </a:extLst>
          </p:cNvPr>
          <p:cNvSpPr txBox="1"/>
          <p:nvPr/>
        </p:nvSpPr>
        <p:spPr>
          <a:xfrm>
            <a:off x="645951" y="327171"/>
            <a:ext cx="6971253" cy="6278642"/>
          </a:xfrm>
          <a:prstGeom prst="rect">
            <a:avLst/>
          </a:prstGeom>
          <a:noFill/>
        </p:spPr>
        <p:txBody>
          <a:bodyPr wrap="square">
            <a:spAutoFit/>
          </a:bodyPr>
          <a:lstStyle/>
          <a:p>
            <a:r>
              <a:rPr lang="en-IN" sz="2400" b="1" dirty="0"/>
              <a:t>3 – Insert Specifications</a:t>
            </a:r>
          </a:p>
          <a:p>
            <a:endParaRPr lang="en-IN" dirty="0"/>
          </a:p>
          <a:p>
            <a:r>
              <a:rPr lang="en-IN" dirty="0"/>
              <a:t>INSERT INTO Specifications (</a:t>
            </a:r>
          </a:p>
          <a:p>
            <a:r>
              <a:rPr lang="en-IN" dirty="0"/>
              <a:t>    </a:t>
            </a:r>
            <a:r>
              <a:rPr lang="en-IN" dirty="0" err="1"/>
              <a:t>model_id</a:t>
            </a:r>
            <a:r>
              <a:rPr lang="en-IN" dirty="0"/>
              <a:t>, </a:t>
            </a:r>
            <a:r>
              <a:rPr lang="en-IN" dirty="0" err="1"/>
              <a:t>mobile_weight_grams</a:t>
            </a:r>
            <a:r>
              <a:rPr lang="en-IN" dirty="0"/>
              <a:t>, </a:t>
            </a:r>
            <a:r>
              <a:rPr lang="en-IN" dirty="0" err="1"/>
              <a:t>ram_gb</a:t>
            </a:r>
            <a:r>
              <a:rPr lang="en-IN" dirty="0"/>
              <a:t>, </a:t>
            </a:r>
            <a:r>
              <a:rPr lang="en-IN" dirty="0" err="1"/>
              <a:t>front_camera_mp</a:t>
            </a:r>
            <a:r>
              <a:rPr lang="en-IN" dirty="0"/>
              <a:t>, </a:t>
            </a:r>
            <a:r>
              <a:rPr lang="en-IN" dirty="0" err="1"/>
              <a:t>back_camera_mp</a:t>
            </a:r>
            <a:r>
              <a:rPr lang="en-IN" dirty="0"/>
              <a:t>, processor, </a:t>
            </a:r>
            <a:r>
              <a:rPr lang="en-IN" dirty="0" err="1"/>
              <a:t>battery_capacity_mah</a:t>
            </a:r>
            <a:r>
              <a:rPr lang="en-IN" dirty="0"/>
              <a:t>, </a:t>
            </a:r>
            <a:r>
              <a:rPr lang="en-IN" dirty="0" err="1"/>
              <a:t>screen_size_inches</a:t>
            </a:r>
            <a:endParaRPr lang="en-IN" dirty="0"/>
          </a:p>
          <a:p>
            <a:r>
              <a:rPr lang="en-IN" dirty="0"/>
              <a:t>) VALUES</a:t>
            </a:r>
          </a:p>
          <a:p>
            <a:r>
              <a:rPr lang="en-IN" dirty="0"/>
              <a:t>(1, 203, 6, '12MP', '48MP', 'A17 Bionic', 4200, 6.70),</a:t>
            </a:r>
          </a:p>
          <a:p>
            <a:r>
              <a:rPr lang="en-IN" dirty="0"/>
              <a:t>(2, 221, 8, '12MP / 4K', '48MP + 12MP', 'A17 Pro', 4500, 6.70),</a:t>
            </a:r>
          </a:p>
          <a:p>
            <a:r>
              <a:rPr lang="en-IN" dirty="0"/>
              <a:t>(3, 234, 12, '12MP', '200MP + 12MP', '</a:t>
            </a:r>
            <a:r>
              <a:rPr lang="en-IN" dirty="0" err="1"/>
              <a:t>Exynos</a:t>
            </a:r>
            <a:r>
              <a:rPr lang="en-IN" dirty="0"/>
              <a:t> 2400', 5000, 6.80),</a:t>
            </a:r>
          </a:p>
          <a:p>
            <a:r>
              <a:rPr lang="en-IN" dirty="0"/>
              <a:t>(4, 187, 8, '12MP', '12MP + 12MP', 'Snapdragon 8 Gen 2', 3700, 6.70),</a:t>
            </a:r>
          </a:p>
          <a:p>
            <a:r>
              <a:rPr lang="en-IN" dirty="0"/>
              <a:t>(5, 205, 12, '32MP', '50MP + 48MP', 'Snapdragon 8 Gen 3', 5000, 6.70),</a:t>
            </a:r>
          </a:p>
          <a:p>
            <a:r>
              <a:rPr lang="en-IN" dirty="0"/>
              <a:t>(6, 238, 16, '32MP', '48MP + 48MP', 'Snapdragon 8 Gen 2', 4800, 7.80),</a:t>
            </a:r>
          </a:p>
          <a:p>
            <a:r>
              <a:rPr lang="en-IN" dirty="0"/>
              <a:t>(7, 210, 12, '32MP', '50MP + 50MP + 50MP', 'Snapdragon 8 Elite', 6100, 6.73),</a:t>
            </a:r>
          </a:p>
          <a:p>
            <a:r>
              <a:rPr lang="en-IN" dirty="0"/>
              <a:t>(8, 205, 16, '16MP', '200MP + 8MP + 2MP', 'Snapdragon 7s Gen 3', 5110, 6.67),</a:t>
            </a:r>
          </a:p>
          <a:p>
            <a:r>
              <a:rPr lang="en-IN" dirty="0"/>
              <a:t>(9, 222.8, 12, '16MP', '50MP + 50MP + 8MP', 'Snapdragon 8 Elite', 6500, 6.78),</a:t>
            </a:r>
          </a:p>
          <a:p>
            <a:r>
              <a:rPr lang="en-IN" dirty="0"/>
              <a:t>(10, 184, 12, '16MP', '50MP + 8MP + 50MP', 'Snapdragon 7s Gen 3', 6000, 6.83);</a:t>
            </a:r>
          </a:p>
          <a:p>
            <a:endParaRPr lang="en-IN" dirty="0"/>
          </a:p>
          <a:p>
            <a:r>
              <a:rPr lang="en-IN" dirty="0"/>
              <a:t>select * from Specifications ;</a:t>
            </a:r>
          </a:p>
        </p:txBody>
      </p:sp>
    </p:spTree>
    <p:extLst>
      <p:ext uri="{BB962C8B-B14F-4D97-AF65-F5344CB8AC3E}">
        <p14:creationId xmlns:p14="http://schemas.microsoft.com/office/powerpoint/2010/main" val="198098063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C55F8D-FBE8-10D3-31F2-18780AE42E08}"/>
              </a:ext>
            </a:extLst>
          </p:cNvPr>
          <p:cNvSpPr txBox="1"/>
          <p:nvPr/>
        </p:nvSpPr>
        <p:spPr>
          <a:xfrm>
            <a:off x="228600" y="3075781"/>
            <a:ext cx="8582520" cy="3693319"/>
          </a:xfrm>
          <a:prstGeom prst="rect">
            <a:avLst/>
          </a:prstGeom>
          <a:noFill/>
        </p:spPr>
        <p:txBody>
          <a:bodyPr wrap="square">
            <a:spAutoFit/>
          </a:bodyPr>
          <a:lstStyle/>
          <a:p>
            <a:r>
              <a:rPr lang="en-IN" sz="2000" b="1" dirty="0"/>
              <a:t>4 – Insert Prices</a:t>
            </a:r>
          </a:p>
          <a:p>
            <a:endParaRPr lang="en-IN" dirty="0"/>
          </a:p>
          <a:p>
            <a:r>
              <a:rPr lang="en-IN" dirty="0"/>
              <a:t>INSERT INTO Prices (</a:t>
            </a:r>
            <a:r>
              <a:rPr lang="en-IN" dirty="0" err="1"/>
              <a:t>model_id</a:t>
            </a:r>
            <a:r>
              <a:rPr lang="en-IN" dirty="0"/>
              <a:t>, </a:t>
            </a:r>
            <a:r>
              <a:rPr lang="en-IN" dirty="0" err="1"/>
              <a:t>price_india</a:t>
            </a:r>
            <a:r>
              <a:rPr lang="en-IN" dirty="0"/>
              <a:t>, </a:t>
            </a:r>
            <a:r>
              <a:rPr lang="en-IN" dirty="0" err="1"/>
              <a:t>price_china</a:t>
            </a:r>
            <a:r>
              <a:rPr lang="en-IN" dirty="0"/>
              <a:t>, </a:t>
            </a:r>
            <a:r>
              <a:rPr lang="en-IN" dirty="0" err="1"/>
              <a:t>price_usa</a:t>
            </a:r>
            <a:r>
              <a:rPr lang="en-IN" dirty="0"/>
              <a:t>) VALUES</a:t>
            </a:r>
          </a:p>
          <a:p>
            <a:r>
              <a:rPr lang="en-IN" dirty="0"/>
              <a:t>(1, 89999, 6199, 899),</a:t>
            </a:r>
          </a:p>
          <a:p>
            <a:r>
              <a:rPr lang="en-IN" dirty="0"/>
              <a:t>(2, 114999, 7799, 1199),</a:t>
            </a:r>
          </a:p>
          <a:p>
            <a:r>
              <a:rPr lang="en-IN" dirty="0"/>
              <a:t>(3, 114900, 7999, 1299),</a:t>
            </a:r>
          </a:p>
          <a:p>
            <a:r>
              <a:rPr lang="en-IN" dirty="0"/>
              <a:t>(4, 104900, 8999, 1099),</a:t>
            </a:r>
          </a:p>
          <a:p>
            <a:r>
              <a:rPr lang="en-IN" dirty="0"/>
              <a:t>(5, 74999, 5999, 799),</a:t>
            </a:r>
          </a:p>
          <a:p>
            <a:r>
              <a:rPr lang="en-IN" dirty="0"/>
              <a:t>(6, 74999, 6999, 1099),</a:t>
            </a:r>
          </a:p>
          <a:p>
            <a:r>
              <a:rPr lang="en-IN" dirty="0"/>
              <a:t>(7, 89999, 5299, 799),</a:t>
            </a:r>
          </a:p>
          <a:p>
            <a:r>
              <a:rPr lang="en-IN" dirty="0"/>
              <a:t>(8, 35999, 3099, 429),</a:t>
            </a:r>
          </a:p>
          <a:p>
            <a:r>
              <a:rPr lang="en-IN" dirty="0"/>
              <a:t>(9, 59999, 3400, 470),</a:t>
            </a:r>
          </a:p>
          <a:p>
            <a:r>
              <a:rPr lang="en-IN" dirty="0"/>
              <a:t>(10, 36999, 2800, 360);</a:t>
            </a:r>
          </a:p>
        </p:txBody>
      </p:sp>
      <p:sp>
        <p:nvSpPr>
          <p:cNvPr id="5" name="TextBox 4">
            <a:extLst>
              <a:ext uri="{FF2B5EF4-FFF2-40B4-BE49-F238E27FC236}">
                <a16:creationId xmlns:a16="http://schemas.microsoft.com/office/drawing/2014/main" id="{F689B71C-5C59-E027-D52B-3C07EC6D010C}"/>
              </a:ext>
            </a:extLst>
          </p:cNvPr>
          <p:cNvSpPr txBox="1"/>
          <p:nvPr/>
        </p:nvSpPr>
        <p:spPr>
          <a:xfrm>
            <a:off x="999339" y="3875606"/>
            <a:ext cx="6102990" cy="369332"/>
          </a:xfrm>
          <a:prstGeom prst="rect">
            <a:avLst/>
          </a:prstGeom>
          <a:noFill/>
        </p:spPr>
        <p:txBody>
          <a:bodyPr wrap="square">
            <a:spAutoFit/>
          </a:bodyPr>
          <a:lstStyle/>
          <a:p>
            <a:r>
              <a:rPr lang="en-IN" dirty="0"/>
              <a:t> select * from prices ;</a:t>
            </a:r>
          </a:p>
        </p:txBody>
      </p:sp>
      <p:pic>
        <p:nvPicPr>
          <p:cNvPr id="4" name="Picture 3">
            <a:extLst>
              <a:ext uri="{FF2B5EF4-FFF2-40B4-BE49-F238E27FC236}">
                <a16:creationId xmlns:a16="http://schemas.microsoft.com/office/drawing/2014/main" id="{6594CDE3-5C04-2905-6BCA-2253BE9B9A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300" y="283887"/>
            <a:ext cx="11290300" cy="2791894"/>
          </a:xfrm>
          <a:prstGeom prst="rect">
            <a:avLst/>
          </a:prstGeom>
        </p:spPr>
      </p:pic>
      <p:pic>
        <p:nvPicPr>
          <p:cNvPr id="7" name="Picture 6">
            <a:extLst>
              <a:ext uri="{FF2B5EF4-FFF2-40B4-BE49-F238E27FC236}">
                <a16:creationId xmlns:a16="http://schemas.microsoft.com/office/drawing/2014/main" id="{5616E541-80A2-9598-1D2A-90AE6C498B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1001" y="4102099"/>
            <a:ext cx="5731660" cy="2667001"/>
          </a:xfrm>
          <a:prstGeom prst="rect">
            <a:avLst/>
          </a:prstGeom>
        </p:spPr>
      </p:pic>
    </p:spTree>
    <p:extLst>
      <p:ext uri="{BB962C8B-B14F-4D97-AF65-F5344CB8AC3E}">
        <p14:creationId xmlns:p14="http://schemas.microsoft.com/office/powerpoint/2010/main" val="393610797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2A2C4C-F60C-8AEA-4D68-4DE306EB0230}"/>
              </a:ext>
            </a:extLst>
          </p:cNvPr>
          <p:cNvSpPr txBox="1"/>
          <p:nvPr/>
        </p:nvSpPr>
        <p:spPr>
          <a:xfrm>
            <a:off x="746620" y="822122"/>
            <a:ext cx="6979640" cy="3477875"/>
          </a:xfrm>
          <a:prstGeom prst="rect">
            <a:avLst/>
          </a:prstGeom>
          <a:noFill/>
        </p:spPr>
        <p:txBody>
          <a:bodyPr wrap="square">
            <a:spAutoFit/>
          </a:bodyPr>
          <a:lstStyle/>
          <a:p>
            <a:r>
              <a:rPr lang="en-IN" sz="2000" b="1" dirty="0"/>
              <a:t>1.If I want to  show number of models launched For all years (year-wise counts)</a:t>
            </a:r>
          </a:p>
          <a:p>
            <a:endParaRPr lang="en-IN" sz="2000" b="1" dirty="0"/>
          </a:p>
          <a:p>
            <a:r>
              <a:rPr lang="en-IN" dirty="0"/>
              <a:t> SELECT </a:t>
            </a:r>
          </a:p>
          <a:p>
            <a:r>
              <a:rPr lang="en-IN" dirty="0"/>
              <a:t>    </a:t>
            </a:r>
            <a:r>
              <a:rPr lang="en-IN" dirty="0" err="1"/>
              <a:t>launch_year</a:t>
            </a:r>
            <a:r>
              <a:rPr lang="en-IN" dirty="0"/>
              <a:t>,</a:t>
            </a:r>
          </a:p>
          <a:p>
            <a:r>
              <a:rPr lang="en-IN" dirty="0"/>
              <a:t>    COUNT(*) AS </a:t>
            </a:r>
            <a:r>
              <a:rPr lang="en-IN" dirty="0" err="1"/>
              <a:t>total_models</a:t>
            </a:r>
            <a:endParaRPr lang="en-IN" dirty="0"/>
          </a:p>
          <a:p>
            <a:r>
              <a:rPr lang="en-IN" dirty="0"/>
              <a:t>FROM </a:t>
            </a:r>
          </a:p>
          <a:p>
            <a:r>
              <a:rPr lang="en-IN" dirty="0"/>
              <a:t>    Models</a:t>
            </a:r>
          </a:p>
          <a:p>
            <a:r>
              <a:rPr lang="en-IN" dirty="0"/>
              <a:t>GROUP BY </a:t>
            </a:r>
          </a:p>
          <a:p>
            <a:r>
              <a:rPr lang="en-IN" dirty="0"/>
              <a:t>    </a:t>
            </a:r>
            <a:r>
              <a:rPr lang="en-IN" dirty="0" err="1"/>
              <a:t>launch_year</a:t>
            </a:r>
            <a:endParaRPr lang="en-IN" dirty="0"/>
          </a:p>
          <a:p>
            <a:r>
              <a:rPr lang="en-IN" dirty="0"/>
              <a:t>ORDER BY </a:t>
            </a:r>
          </a:p>
          <a:p>
            <a:r>
              <a:rPr lang="en-IN" dirty="0"/>
              <a:t>    </a:t>
            </a:r>
            <a:r>
              <a:rPr lang="en-IN" dirty="0" err="1"/>
              <a:t>launch_year</a:t>
            </a:r>
            <a:r>
              <a:rPr lang="en-IN" dirty="0"/>
              <a:t> DESC;</a:t>
            </a:r>
          </a:p>
        </p:txBody>
      </p:sp>
      <p:pic>
        <p:nvPicPr>
          <p:cNvPr id="4" name="Picture 3">
            <a:extLst>
              <a:ext uri="{FF2B5EF4-FFF2-40B4-BE49-F238E27FC236}">
                <a16:creationId xmlns:a16="http://schemas.microsoft.com/office/drawing/2014/main" id="{A5549551-6A53-C1B9-893D-82D7630427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2486" y="1822357"/>
            <a:ext cx="4289414" cy="2292444"/>
          </a:xfrm>
          <a:prstGeom prst="rect">
            <a:avLst/>
          </a:prstGeom>
        </p:spPr>
      </p:pic>
    </p:spTree>
    <p:extLst>
      <p:ext uri="{BB962C8B-B14F-4D97-AF65-F5344CB8AC3E}">
        <p14:creationId xmlns:p14="http://schemas.microsoft.com/office/powerpoint/2010/main" val="128409479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55DE5C-FDD0-9F54-E3CB-F9BE0DA3E0D8}"/>
              </a:ext>
            </a:extLst>
          </p:cNvPr>
          <p:cNvSpPr txBox="1"/>
          <p:nvPr/>
        </p:nvSpPr>
        <p:spPr>
          <a:xfrm>
            <a:off x="838899" y="696286"/>
            <a:ext cx="5343787" cy="3693319"/>
          </a:xfrm>
          <a:prstGeom prst="rect">
            <a:avLst/>
          </a:prstGeom>
          <a:noFill/>
        </p:spPr>
        <p:txBody>
          <a:bodyPr wrap="square">
            <a:spAutoFit/>
          </a:bodyPr>
          <a:lstStyle/>
          <a:p>
            <a:r>
              <a:rPr lang="en-IN" sz="2400" b="1" dirty="0"/>
              <a:t>2 If I want to Show number of models launched in 2024</a:t>
            </a:r>
          </a:p>
          <a:p>
            <a:r>
              <a:rPr lang="en-IN" sz="2400" b="1" dirty="0"/>
              <a:t>  </a:t>
            </a:r>
          </a:p>
          <a:p>
            <a:r>
              <a:rPr lang="en-IN" dirty="0"/>
              <a:t>SELECT </a:t>
            </a:r>
          </a:p>
          <a:p>
            <a:r>
              <a:rPr lang="en-IN" dirty="0"/>
              <a:t>    </a:t>
            </a:r>
            <a:r>
              <a:rPr lang="en-IN" dirty="0" err="1"/>
              <a:t>launch_year</a:t>
            </a:r>
            <a:r>
              <a:rPr lang="en-IN" dirty="0"/>
              <a:t>,</a:t>
            </a:r>
          </a:p>
          <a:p>
            <a:r>
              <a:rPr lang="en-IN" dirty="0"/>
              <a:t>    COUNT(*) AS </a:t>
            </a:r>
            <a:r>
              <a:rPr lang="en-IN" dirty="0" err="1"/>
              <a:t>total_models</a:t>
            </a:r>
            <a:endParaRPr lang="en-IN" dirty="0"/>
          </a:p>
          <a:p>
            <a:r>
              <a:rPr lang="en-IN" dirty="0"/>
              <a:t>FROM </a:t>
            </a:r>
          </a:p>
          <a:p>
            <a:r>
              <a:rPr lang="en-IN" dirty="0"/>
              <a:t>    Models</a:t>
            </a:r>
          </a:p>
          <a:p>
            <a:r>
              <a:rPr lang="en-IN" dirty="0"/>
              <a:t>WHERE </a:t>
            </a:r>
          </a:p>
          <a:p>
            <a:r>
              <a:rPr lang="en-IN" dirty="0"/>
              <a:t>    </a:t>
            </a:r>
            <a:r>
              <a:rPr lang="en-IN" dirty="0" err="1"/>
              <a:t>launch_year</a:t>
            </a:r>
            <a:r>
              <a:rPr lang="en-IN" dirty="0"/>
              <a:t> = 2024</a:t>
            </a:r>
          </a:p>
          <a:p>
            <a:r>
              <a:rPr lang="en-IN" dirty="0"/>
              <a:t>GROUP BY </a:t>
            </a:r>
          </a:p>
          <a:p>
            <a:r>
              <a:rPr lang="en-IN" dirty="0"/>
              <a:t>    </a:t>
            </a:r>
            <a:r>
              <a:rPr lang="en-IN" dirty="0" err="1"/>
              <a:t>launch_year</a:t>
            </a:r>
            <a:r>
              <a:rPr lang="en-IN" dirty="0"/>
              <a:t>; </a:t>
            </a:r>
          </a:p>
        </p:txBody>
      </p:sp>
      <p:pic>
        <p:nvPicPr>
          <p:cNvPr id="4" name="Picture 3">
            <a:extLst>
              <a:ext uri="{FF2B5EF4-FFF2-40B4-BE49-F238E27FC236}">
                <a16:creationId xmlns:a16="http://schemas.microsoft.com/office/drawing/2014/main" id="{5BD1CCBE-D2D5-C674-65B2-3A3E30F03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871" y="1689100"/>
            <a:ext cx="5002429" cy="2400301"/>
          </a:xfrm>
          <a:prstGeom prst="rect">
            <a:avLst/>
          </a:prstGeom>
        </p:spPr>
      </p:pic>
    </p:spTree>
    <p:extLst>
      <p:ext uri="{BB962C8B-B14F-4D97-AF65-F5344CB8AC3E}">
        <p14:creationId xmlns:p14="http://schemas.microsoft.com/office/powerpoint/2010/main" val="45308079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FE1879-37BF-3103-9E31-4FE057BD60D0}"/>
              </a:ext>
            </a:extLst>
          </p:cNvPr>
          <p:cNvSpPr txBox="1"/>
          <p:nvPr/>
        </p:nvSpPr>
        <p:spPr>
          <a:xfrm>
            <a:off x="780175" y="570452"/>
            <a:ext cx="7298423" cy="4770537"/>
          </a:xfrm>
          <a:prstGeom prst="rect">
            <a:avLst/>
          </a:prstGeom>
          <a:noFill/>
        </p:spPr>
        <p:txBody>
          <a:bodyPr wrap="square">
            <a:spAutoFit/>
          </a:bodyPr>
          <a:lstStyle/>
          <a:p>
            <a:r>
              <a:rPr lang="en-IN" sz="2000" b="1" dirty="0"/>
              <a:t>3.If I want brand-wise breakdown for a given year(lets say 2024)</a:t>
            </a:r>
            <a:r>
              <a:rPr lang="en-IN" sz="2400" b="1" dirty="0"/>
              <a:t>:</a:t>
            </a:r>
          </a:p>
          <a:p>
            <a:endParaRPr lang="en-IN" sz="2000" b="1" dirty="0"/>
          </a:p>
          <a:p>
            <a:r>
              <a:rPr lang="en-IN" dirty="0"/>
              <a:t>SELECT </a:t>
            </a:r>
          </a:p>
          <a:p>
            <a:r>
              <a:rPr lang="en-IN" dirty="0"/>
              <a:t>    </a:t>
            </a:r>
            <a:r>
              <a:rPr lang="en-IN" dirty="0" err="1"/>
              <a:t>b.brand_name</a:t>
            </a:r>
            <a:r>
              <a:rPr lang="en-IN" dirty="0"/>
              <a:t>,</a:t>
            </a:r>
          </a:p>
          <a:p>
            <a:r>
              <a:rPr lang="en-IN" dirty="0"/>
              <a:t>    </a:t>
            </a:r>
            <a:r>
              <a:rPr lang="en-IN" dirty="0" err="1"/>
              <a:t>m.launch_year</a:t>
            </a:r>
            <a:r>
              <a:rPr lang="en-IN" dirty="0"/>
              <a:t>,</a:t>
            </a:r>
          </a:p>
          <a:p>
            <a:r>
              <a:rPr lang="en-IN" dirty="0"/>
              <a:t>    COUNT(*) AS </a:t>
            </a:r>
            <a:r>
              <a:rPr lang="en-IN" dirty="0" err="1"/>
              <a:t>total_models</a:t>
            </a:r>
            <a:endParaRPr lang="en-IN" dirty="0"/>
          </a:p>
          <a:p>
            <a:r>
              <a:rPr lang="en-IN" dirty="0"/>
              <a:t>FROM </a:t>
            </a:r>
          </a:p>
          <a:p>
            <a:r>
              <a:rPr lang="en-IN" dirty="0"/>
              <a:t>    Models m</a:t>
            </a:r>
          </a:p>
          <a:p>
            <a:r>
              <a:rPr lang="en-IN" dirty="0"/>
              <a:t>JOIN </a:t>
            </a:r>
          </a:p>
          <a:p>
            <a:r>
              <a:rPr lang="en-IN" dirty="0"/>
              <a:t>    Brands b ON </a:t>
            </a:r>
            <a:r>
              <a:rPr lang="en-IN" dirty="0" err="1"/>
              <a:t>m.brand_id</a:t>
            </a:r>
            <a:r>
              <a:rPr lang="en-IN" dirty="0"/>
              <a:t> = </a:t>
            </a:r>
            <a:r>
              <a:rPr lang="en-IN" dirty="0" err="1"/>
              <a:t>b.brand_id</a:t>
            </a:r>
            <a:endParaRPr lang="en-IN" dirty="0"/>
          </a:p>
          <a:p>
            <a:r>
              <a:rPr lang="en-IN" dirty="0"/>
              <a:t>WHERE </a:t>
            </a:r>
          </a:p>
          <a:p>
            <a:r>
              <a:rPr lang="en-IN" dirty="0"/>
              <a:t>    </a:t>
            </a:r>
            <a:r>
              <a:rPr lang="en-IN" dirty="0" err="1"/>
              <a:t>m.launch_year</a:t>
            </a:r>
            <a:r>
              <a:rPr lang="en-IN" dirty="0"/>
              <a:t> = 2024</a:t>
            </a:r>
          </a:p>
          <a:p>
            <a:r>
              <a:rPr lang="en-IN" dirty="0"/>
              <a:t>GROUP BY </a:t>
            </a:r>
          </a:p>
          <a:p>
            <a:r>
              <a:rPr lang="en-IN" dirty="0"/>
              <a:t>    </a:t>
            </a:r>
            <a:r>
              <a:rPr lang="en-IN" dirty="0" err="1"/>
              <a:t>b.brand_name</a:t>
            </a:r>
            <a:r>
              <a:rPr lang="en-IN" dirty="0"/>
              <a:t>, </a:t>
            </a:r>
            <a:r>
              <a:rPr lang="en-IN" dirty="0" err="1"/>
              <a:t>m.launch_year</a:t>
            </a:r>
            <a:endParaRPr lang="en-IN" dirty="0"/>
          </a:p>
          <a:p>
            <a:r>
              <a:rPr lang="en-IN" dirty="0"/>
              <a:t>ORDER BY </a:t>
            </a:r>
          </a:p>
          <a:p>
            <a:r>
              <a:rPr lang="en-IN" dirty="0"/>
              <a:t>    </a:t>
            </a:r>
            <a:r>
              <a:rPr lang="en-IN" dirty="0" err="1"/>
              <a:t>total_models</a:t>
            </a:r>
            <a:r>
              <a:rPr lang="en-IN" dirty="0"/>
              <a:t> DESC;</a:t>
            </a:r>
          </a:p>
        </p:txBody>
      </p:sp>
      <p:pic>
        <p:nvPicPr>
          <p:cNvPr id="4" name="Picture 3">
            <a:extLst>
              <a:ext uri="{FF2B5EF4-FFF2-40B4-BE49-F238E27FC236}">
                <a16:creationId xmlns:a16="http://schemas.microsoft.com/office/drawing/2014/main" id="{DEEC0190-E262-C6BB-024D-C2195459AA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6700" y="1834511"/>
            <a:ext cx="5016500" cy="3220089"/>
          </a:xfrm>
          <a:prstGeom prst="rect">
            <a:avLst/>
          </a:prstGeom>
        </p:spPr>
      </p:pic>
    </p:spTree>
    <p:extLst>
      <p:ext uri="{BB962C8B-B14F-4D97-AF65-F5344CB8AC3E}">
        <p14:creationId xmlns:p14="http://schemas.microsoft.com/office/powerpoint/2010/main" val="222261352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E72075-27EC-2713-09C4-83EC8C3E6659}"/>
              </a:ext>
            </a:extLst>
          </p:cNvPr>
          <p:cNvSpPr txBox="1"/>
          <p:nvPr/>
        </p:nvSpPr>
        <p:spPr>
          <a:xfrm>
            <a:off x="755009" y="631882"/>
            <a:ext cx="6249798" cy="5447645"/>
          </a:xfrm>
          <a:prstGeom prst="rect">
            <a:avLst/>
          </a:prstGeom>
          <a:noFill/>
        </p:spPr>
        <p:txBody>
          <a:bodyPr wrap="square">
            <a:spAutoFit/>
          </a:bodyPr>
          <a:lstStyle/>
          <a:p>
            <a:r>
              <a:rPr lang="en-IN" sz="2000" b="1" dirty="0"/>
              <a:t>4.IF I want to show a market trend report according to both  year-wise and brand-wise count of models launched</a:t>
            </a:r>
          </a:p>
          <a:p>
            <a:endParaRPr lang="en-IN" dirty="0"/>
          </a:p>
          <a:p>
            <a:r>
              <a:rPr lang="en-IN" dirty="0"/>
              <a:t>SELECT </a:t>
            </a:r>
          </a:p>
          <a:p>
            <a:r>
              <a:rPr lang="en-IN" dirty="0"/>
              <a:t>    </a:t>
            </a:r>
            <a:r>
              <a:rPr lang="en-IN" dirty="0" err="1"/>
              <a:t>b.brand_name</a:t>
            </a:r>
            <a:r>
              <a:rPr lang="en-IN" dirty="0"/>
              <a:t>,</a:t>
            </a:r>
          </a:p>
          <a:p>
            <a:r>
              <a:rPr lang="en-IN" dirty="0"/>
              <a:t>    </a:t>
            </a:r>
            <a:r>
              <a:rPr lang="en-IN" dirty="0" err="1"/>
              <a:t>m.launch_year</a:t>
            </a:r>
            <a:r>
              <a:rPr lang="en-IN" dirty="0"/>
              <a:t>,</a:t>
            </a:r>
          </a:p>
          <a:p>
            <a:r>
              <a:rPr lang="en-IN" dirty="0"/>
              <a:t>    COUNT(*) AS </a:t>
            </a:r>
            <a:r>
              <a:rPr lang="en-IN" dirty="0" err="1"/>
              <a:t>total_models</a:t>
            </a:r>
            <a:endParaRPr lang="en-IN" dirty="0"/>
          </a:p>
          <a:p>
            <a:r>
              <a:rPr lang="en-IN" dirty="0"/>
              <a:t>FROM </a:t>
            </a:r>
          </a:p>
          <a:p>
            <a:r>
              <a:rPr lang="en-IN" dirty="0"/>
              <a:t>    Models m</a:t>
            </a:r>
          </a:p>
          <a:p>
            <a:r>
              <a:rPr lang="en-IN" dirty="0"/>
              <a:t>JOIN </a:t>
            </a:r>
          </a:p>
          <a:p>
            <a:r>
              <a:rPr lang="en-IN" dirty="0"/>
              <a:t>    Brands b ON </a:t>
            </a:r>
            <a:r>
              <a:rPr lang="en-IN" dirty="0" err="1"/>
              <a:t>m.brand_id</a:t>
            </a:r>
            <a:r>
              <a:rPr lang="en-IN" dirty="0"/>
              <a:t> = </a:t>
            </a:r>
            <a:r>
              <a:rPr lang="en-IN" dirty="0" err="1"/>
              <a:t>b.brand_id</a:t>
            </a:r>
            <a:endParaRPr lang="en-IN" dirty="0"/>
          </a:p>
          <a:p>
            <a:r>
              <a:rPr lang="en-IN" dirty="0"/>
              <a:t>GROUP BY </a:t>
            </a:r>
          </a:p>
          <a:p>
            <a:r>
              <a:rPr lang="en-IN" dirty="0"/>
              <a:t>    </a:t>
            </a:r>
            <a:r>
              <a:rPr lang="en-IN" dirty="0" err="1"/>
              <a:t>b.brand_name</a:t>
            </a:r>
            <a:r>
              <a:rPr lang="en-IN" dirty="0"/>
              <a:t>, </a:t>
            </a:r>
          </a:p>
          <a:p>
            <a:r>
              <a:rPr lang="en-IN" dirty="0"/>
              <a:t>    </a:t>
            </a:r>
            <a:r>
              <a:rPr lang="en-IN" dirty="0" err="1"/>
              <a:t>m.launch_year</a:t>
            </a:r>
            <a:endParaRPr lang="en-IN" dirty="0"/>
          </a:p>
          <a:p>
            <a:r>
              <a:rPr lang="en-IN" dirty="0"/>
              <a:t>ORDER BY </a:t>
            </a:r>
          </a:p>
          <a:p>
            <a:r>
              <a:rPr lang="en-IN" dirty="0"/>
              <a:t>    </a:t>
            </a:r>
            <a:r>
              <a:rPr lang="en-IN" dirty="0" err="1"/>
              <a:t>m.launch_year</a:t>
            </a:r>
            <a:r>
              <a:rPr lang="en-IN" dirty="0"/>
              <a:t> DESC,</a:t>
            </a:r>
          </a:p>
          <a:p>
            <a:r>
              <a:rPr lang="en-IN" dirty="0"/>
              <a:t>    </a:t>
            </a:r>
            <a:r>
              <a:rPr lang="en-IN" dirty="0" err="1"/>
              <a:t>total_models</a:t>
            </a:r>
            <a:r>
              <a:rPr lang="en-IN" dirty="0"/>
              <a:t> DESC,</a:t>
            </a:r>
          </a:p>
          <a:p>
            <a:r>
              <a:rPr lang="en-IN" dirty="0"/>
              <a:t>    </a:t>
            </a:r>
            <a:r>
              <a:rPr lang="en-IN" dirty="0" err="1"/>
              <a:t>b.brand_name</a:t>
            </a:r>
            <a:r>
              <a:rPr lang="en-IN" dirty="0"/>
              <a:t>;</a:t>
            </a:r>
          </a:p>
        </p:txBody>
      </p:sp>
      <p:pic>
        <p:nvPicPr>
          <p:cNvPr id="4" name="Picture 3">
            <a:extLst>
              <a:ext uri="{FF2B5EF4-FFF2-40B4-BE49-F238E27FC236}">
                <a16:creationId xmlns:a16="http://schemas.microsoft.com/office/drawing/2014/main" id="{017FE362-39DE-3C39-5E65-082E45F019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6200" y="1660361"/>
            <a:ext cx="5829300" cy="4194339"/>
          </a:xfrm>
          <a:prstGeom prst="rect">
            <a:avLst/>
          </a:prstGeom>
        </p:spPr>
      </p:pic>
    </p:spTree>
    <p:extLst>
      <p:ext uri="{BB962C8B-B14F-4D97-AF65-F5344CB8AC3E}">
        <p14:creationId xmlns:p14="http://schemas.microsoft.com/office/powerpoint/2010/main" val="147959359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4CF12D-F02F-7361-19DF-FE1469AFABEC}"/>
              </a:ext>
            </a:extLst>
          </p:cNvPr>
          <p:cNvSpPr txBox="1"/>
          <p:nvPr/>
        </p:nvSpPr>
        <p:spPr>
          <a:xfrm>
            <a:off x="872455" y="707869"/>
            <a:ext cx="4437776" cy="3785652"/>
          </a:xfrm>
          <a:prstGeom prst="rect">
            <a:avLst/>
          </a:prstGeom>
          <a:noFill/>
        </p:spPr>
        <p:txBody>
          <a:bodyPr wrap="square">
            <a:spAutoFit/>
          </a:bodyPr>
          <a:lstStyle/>
          <a:p>
            <a:r>
              <a:rPr lang="en-IN" sz="2000" b="1" dirty="0"/>
              <a:t>5.If I want to show all models with their processor, India price, and China price</a:t>
            </a:r>
          </a:p>
          <a:p>
            <a:endParaRPr lang="en-IN" dirty="0"/>
          </a:p>
          <a:p>
            <a:r>
              <a:rPr lang="en-IN" dirty="0"/>
              <a:t>SELECT </a:t>
            </a:r>
          </a:p>
          <a:p>
            <a:r>
              <a:rPr lang="en-IN" dirty="0"/>
              <a:t>    </a:t>
            </a:r>
            <a:r>
              <a:rPr lang="en-IN" dirty="0" err="1"/>
              <a:t>s.processor</a:t>
            </a:r>
            <a:r>
              <a:rPr lang="en-IN" dirty="0"/>
              <a:t>,</a:t>
            </a:r>
          </a:p>
          <a:p>
            <a:r>
              <a:rPr lang="en-IN" dirty="0"/>
              <a:t>    </a:t>
            </a:r>
            <a:r>
              <a:rPr lang="en-IN" dirty="0" err="1"/>
              <a:t>p.price_india</a:t>
            </a:r>
            <a:r>
              <a:rPr lang="en-IN" dirty="0"/>
              <a:t>,</a:t>
            </a:r>
          </a:p>
          <a:p>
            <a:r>
              <a:rPr lang="en-IN" dirty="0"/>
              <a:t>    </a:t>
            </a:r>
            <a:r>
              <a:rPr lang="en-IN" dirty="0" err="1"/>
              <a:t>p.price_china</a:t>
            </a:r>
            <a:endParaRPr lang="en-IN" dirty="0"/>
          </a:p>
          <a:p>
            <a:r>
              <a:rPr lang="en-IN" dirty="0"/>
              <a:t>FROM </a:t>
            </a:r>
          </a:p>
          <a:p>
            <a:r>
              <a:rPr lang="en-IN" dirty="0"/>
              <a:t>    Specifications s</a:t>
            </a:r>
          </a:p>
          <a:p>
            <a:r>
              <a:rPr lang="en-IN" dirty="0"/>
              <a:t>JOIN </a:t>
            </a:r>
          </a:p>
          <a:p>
            <a:r>
              <a:rPr lang="en-IN" dirty="0"/>
              <a:t>    Prices p ON </a:t>
            </a:r>
            <a:r>
              <a:rPr lang="en-IN" dirty="0" err="1"/>
              <a:t>s.model_id</a:t>
            </a:r>
            <a:r>
              <a:rPr lang="en-IN" dirty="0"/>
              <a:t> = </a:t>
            </a:r>
            <a:r>
              <a:rPr lang="en-IN" dirty="0" err="1"/>
              <a:t>p.model_id</a:t>
            </a:r>
            <a:r>
              <a:rPr lang="en-IN" dirty="0"/>
              <a:t>;</a:t>
            </a:r>
          </a:p>
          <a:p>
            <a:r>
              <a:rPr lang="en-IN" dirty="0"/>
              <a:t> </a:t>
            </a:r>
          </a:p>
        </p:txBody>
      </p:sp>
      <p:pic>
        <p:nvPicPr>
          <p:cNvPr id="6" name="Picture 5">
            <a:extLst>
              <a:ext uri="{FF2B5EF4-FFF2-40B4-BE49-F238E27FC236}">
                <a16:creationId xmlns:a16="http://schemas.microsoft.com/office/drawing/2014/main" id="{A051A162-EB05-30A9-DB90-2FDE1CB9C5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2390" y="1211843"/>
            <a:ext cx="4658375" cy="3029373"/>
          </a:xfrm>
          <a:prstGeom prst="rect">
            <a:avLst/>
          </a:prstGeom>
        </p:spPr>
      </p:pic>
    </p:spTree>
    <p:extLst>
      <p:ext uri="{BB962C8B-B14F-4D97-AF65-F5344CB8AC3E}">
        <p14:creationId xmlns:p14="http://schemas.microsoft.com/office/powerpoint/2010/main" val="49510456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566D43-DFF6-43F6-8BAA-63A1AD0B63C0}"/>
              </a:ext>
            </a:extLst>
          </p:cNvPr>
          <p:cNvSpPr txBox="1"/>
          <p:nvPr/>
        </p:nvSpPr>
        <p:spPr>
          <a:xfrm>
            <a:off x="788565" y="620785"/>
            <a:ext cx="5377344" cy="3754874"/>
          </a:xfrm>
          <a:prstGeom prst="rect">
            <a:avLst/>
          </a:prstGeom>
          <a:noFill/>
        </p:spPr>
        <p:txBody>
          <a:bodyPr wrap="square">
            <a:spAutoFit/>
          </a:bodyPr>
          <a:lstStyle/>
          <a:p>
            <a:r>
              <a:rPr lang="en-IN" sz="2000" b="1" dirty="0"/>
              <a:t>6.If I want to Show models where price in India is greater than China</a:t>
            </a:r>
          </a:p>
          <a:p>
            <a:endParaRPr lang="en-IN" dirty="0"/>
          </a:p>
          <a:p>
            <a:r>
              <a:rPr lang="en-IN" dirty="0"/>
              <a:t>SELECT </a:t>
            </a:r>
          </a:p>
          <a:p>
            <a:r>
              <a:rPr lang="en-IN" dirty="0"/>
              <a:t>    </a:t>
            </a:r>
            <a:r>
              <a:rPr lang="en-IN" dirty="0" err="1"/>
              <a:t>s.processor</a:t>
            </a:r>
            <a:r>
              <a:rPr lang="en-IN" dirty="0"/>
              <a:t>,</a:t>
            </a:r>
          </a:p>
          <a:p>
            <a:r>
              <a:rPr lang="en-IN" dirty="0"/>
              <a:t>    </a:t>
            </a:r>
            <a:r>
              <a:rPr lang="en-IN" dirty="0" err="1"/>
              <a:t>p.price_india</a:t>
            </a:r>
            <a:r>
              <a:rPr lang="en-IN" dirty="0"/>
              <a:t>,</a:t>
            </a:r>
          </a:p>
          <a:p>
            <a:r>
              <a:rPr lang="en-IN" dirty="0"/>
              <a:t>    </a:t>
            </a:r>
            <a:r>
              <a:rPr lang="en-IN" dirty="0" err="1"/>
              <a:t>p.price_china</a:t>
            </a:r>
            <a:endParaRPr lang="en-IN" dirty="0"/>
          </a:p>
          <a:p>
            <a:r>
              <a:rPr lang="en-IN" dirty="0"/>
              <a:t>FROM </a:t>
            </a:r>
          </a:p>
          <a:p>
            <a:r>
              <a:rPr lang="en-IN" dirty="0"/>
              <a:t>    Specifications s</a:t>
            </a:r>
          </a:p>
          <a:p>
            <a:r>
              <a:rPr lang="en-IN" dirty="0"/>
              <a:t>JOIN </a:t>
            </a:r>
          </a:p>
          <a:p>
            <a:r>
              <a:rPr lang="en-IN" dirty="0"/>
              <a:t>    Prices p ON </a:t>
            </a:r>
            <a:r>
              <a:rPr lang="en-IN" dirty="0" err="1"/>
              <a:t>s.model_id</a:t>
            </a:r>
            <a:r>
              <a:rPr lang="en-IN" dirty="0"/>
              <a:t> = </a:t>
            </a:r>
            <a:r>
              <a:rPr lang="en-IN" dirty="0" err="1"/>
              <a:t>p.model_id</a:t>
            </a:r>
            <a:endParaRPr lang="en-IN" dirty="0"/>
          </a:p>
          <a:p>
            <a:r>
              <a:rPr lang="en-IN" dirty="0"/>
              <a:t>WHERE </a:t>
            </a:r>
          </a:p>
          <a:p>
            <a:r>
              <a:rPr lang="en-IN" dirty="0"/>
              <a:t>    </a:t>
            </a:r>
            <a:r>
              <a:rPr lang="en-IN" dirty="0" err="1"/>
              <a:t>p.price_india</a:t>
            </a:r>
            <a:r>
              <a:rPr lang="en-IN" dirty="0"/>
              <a:t> &gt; </a:t>
            </a:r>
            <a:r>
              <a:rPr lang="en-IN" dirty="0" err="1"/>
              <a:t>p.price_china</a:t>
            </a:r>
            <a:r>
              <a:rPr lang="en-IN" dirty="0"/>
              <a:t>;</a:t>
            </a:r>
          </a:p>
        </p:txBody>
      </p:sp>
      <p:pic>
        <p:nvPicPr>
          <p:cNvPr id="4" name="Picture 3">
            <a:extLst>
              <a:ext uri="{FF2B5EF4-FFF2-40B4-BE49-F238E27FC236}">
                <a16:creationId xmlns:a16="http://schemas.microsoft.com/office/drawing/2014/main" id="{7562C99D-DDF1-091E-8000-233B481EF6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0274" y="1231970"/>
            <a:ext cx="4696480" cy="3143689"/>
          </a:xfrm>
          <a:prstGeom prst="rect">
            <a:avLst/>
          </a:prstGeom>
        </p:spPr>
      </p:pic>
    </p:spTree>
    <p:extLst>
      <p:ext uri="{BB962C8B-B14F-4D97-AF65-F5344CB8AC3E}">
        <p14:creationId xmlns:p14="http://schemas.microsoft.com/office/powerpoint/2010/main" val="422632957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BCE438-7EB4-AC7A-7FCF-6BA3AD25F031}"/>
              </a:ext>
            </a:extLst>
          </p:cNvPr>
          <p:cNvSpPr txBox="1"/>
          <p:nvPr/>
        </p:nvSpPr>
        <p:spPr>
          <a:xfrm>
            <a:off x="822120" y="746620"/>
            <a:ext cx="6753139" cy="3754874"/>
          </a:xfrm>
          <a:prstGeom prst="rect">
            <a:avLst/>
          </a:prstGeom>
          <a:noFill/>
        </p:spPr>
        <p:txBody>
          <a:bodyPr wrap="square">
            <a:spAutoFit/>
          </a:bodyPr>
          <a:lstStyle/>
          <a:p>
            <a:r>
              <a:rPr lang="en-IN" sz="2000" b="1" dirty="0"/>
              <a:t>7.If I want to Show models where price in India is less than China</a:t>
            </a:r>
          </a:p>
          <a:p>
            <a:endParaRPr lang="en-IN" dirty="0"/>
          </a:p>
          <a:p>
            <a:r>
              <a:rPr lang="en-IN" dirty="0"/>
              <a:t>SELECT </a:t>
            </a:r>
          </a:p>
          <a:p>
            <a:r>
              <a:rPr lang="en-IN" dirty="0"/>
              <a:t>    </a:t>
            </a:r>
            <a:r>
              <a:rPr lang="en-IN" dirty="0" err="1"/>
              <a:t>s.processor</a:t>
            </a:r>
            <a:r>
              <a:rPr lang="en-IN" dirty="0"/>
              <a:t>,</a:t>
            </a:r>
          </a:p>
          <a:p>
            <a:r>
              <a:rPr lang="en-IN" dirty="0"/>
              <a:t>    </a:t>
            </a:r>
            <a:r>
              <a:rPr lang="en-IN" dirty="0" err="1"/>
              <a:t>p.price_india</a:t>
            </a:r>
            <a:r>
              <a:rPr lang="en-IN" dirty="0"/>
              <a:t>,</a:t>
            </a:r>
          </a:p>
          <a:p>
            <a:r>
              <a:rPr lang="en-IN" dirty="0"/>
              <a:t>    </a:t>
            </a:r>
            <a:r>
              <a:rPr lang="en-IN" dirty="0" err="1"/>
              <a:t>p.price_china</a:t>
            </a:r>
            <a:endParaRPr lang="en-IN" dirty="0"/>
          </a:p>
          <a:p>
            <a:r>
              <a:rPr lang="en-IN" dirty="0"/>
              <a:t>FROM </a:t>
            </a:r>
          </a:p>
          <a:p>
            <a:r>
              <a:rPr lang="en-IN" dirty="0"/>
              <a:t>    Specifications s</a:t>
            </a:r>
          </a:p>
          <a:p>
            <a:r>
              <a:rPr lang="en-IN" dirty="0"/>
              <a:t>JOIN </a:t>
            </a:r>
          </a:p>
          <a:p>
            <a:r>
              <a:rPr lang="en-IN" dirty="0"/>
              <a:t>    Prices p ON </a:t>
            </a:r>
            <a:r>
              <a:rPr lang="en-IN" dirty="0" err="1"/>
              <a:t>s.model_id</a:t>
            </a:r>
            <a:r>
              <a:rPr lang="en-IN" dirty="0"/>
              <a:t> = </a:t>
            </a:r>
            <a:r>
              <a:rPr lang="en-IN" dirty="0" err="1"/>
              <a:t>p.model_id</a:t>
            </a:r>
            <a:endParaRPr lang="en-IN" dirty="0"/>
          </a:p>
          <a:p>
            <a:r>
              <a:rPr lang="en-IN" dirty="0"/>
              <a:t>WHERE </a:t>
            </a:r>
          </a:p>
          <a:p>
            <a:r>
              <a:rPr lang="en-IN" dirty="0"/>
              <a:t>    </a:t>
            </a:r>
            <a:r>
              <a:rPr lang="en-IN" dirty="0" err="1"/>
              <a:t>p.price_india</a:t>
            </a:r>
            <a:r>
              <a:rPr lang="en-IN" dirty="0"/>
              <a:t> &lt;</a:t>
            </a:r>
            <a:r>
              <a:rPr lang="en-IN" dirty="0" err="1"/>
              <a:t>p.price_china</a:t>
            </a:r>
            <a:r>
              <a:rPr lang="en-IN" dirty="0"/>
              <a:t>;</a:t>
            </a:r>
          </a:p>
        </p:txBody>
      </p:sp>
      <p:pic>
        <p:nvPicPr>
          <p:cNvPr id="4" name="Picture 3">
            <a:extLst>
              <a:ext uri="{FF2B5EF4-FFF2-40B4-BE49-F238E27FC236}">
                <a16:creationId xmlns:a16="http://schemas.microsoft.com/office/drawing/2014/main" id="{00C6AEBE-3443-415F-A5EF-D894ACBD55E7}"/>
              </a:ext>
            </a:extLst>
          </p:cNvPr>
          <p:cNvPicPr>
            <a:picLocks noChangeAspect="1"/>
          </p:cNvPicPr>
          <p:nvPr/>
        </p:nvPicPr>
        <p:blipFill>
          <a:blip r:embed="rId2"/>
          <a:stretch>
            <a:fillRect/>
          </a:stretch>
        </p:blipFill>
        <p:spPr>
          <a:xfrm>
            <a:off x="5284860" y="1862357"/>
            <a:ext cx="3976586" cy="2004968"/>
          </a:xfrm>
          <a:prstGeom prst="rect">
            <a:avLst/>
          </a:prstGeom>
        </p:spPr>
      </p:pic>
    </p:spTree>
    <p:extLst>
      <p:ext uri="{BB962C8B-B14F-4D97-AF65-F5344CB8AC3E}">
        <p14:creationId xmlns:p14="http://schemas.microsoft.com/office/powerpoint/2010/main" val="57856265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A1E47A-17A3-5D53-D9ED-DADC36EBD0D1}"/>
              </a:ext>
            </a:extLst>
          </p:cNvPr>
          <p:cNvSpPr txBox="1"/>
          <p:nvPr/>
        </p:nvSpPr>
        <p:spPr>
          <a:xfrm>
            <a:off x="771787" y="691091"/>
            <a:ext cx="5687736" cy="3477875"/>
          </a:xfrm>
          <a:prstGeom prst="rect">
            <a:avLst/>
          </a:prstGeom>
          <a:noFill/>
        </p:spPr>
        <p:txBody>
          <a:bodyPr wrap="square">
            <a:spAutoFit/>
          </a:bodyPr>
          <a:lstStyle/>
          <a:p>
            <a:r>
              <a:rPr lang="en-IN" sz="2000" b="1" dirty="0"/>
              <a:t>8.if I want to generate a report on mobile prices based on their ram and battery capacity</a:t>
            </a:r>
          </a:p>
          <a:p>
            <a:endParaRPr lang="en-IN" dirty="0"/>
          </a:p>
          <a:p>
            <a:r>
              <a:rPr lang="en-IN" dirty="0"/>
              <a:t>SELECT  </a:t>
            </a:r>
          </a:p>
          <a:p>
            <a:r>
              <a:rPr lang="en-IN" dirty="0"/>
              <a:t>    </a:t>
            </a:r>
            <a:r>
              <a:rPr lang="en-IN" dirty="0" err="1"/>
              <a:t>s.ram_gb</a:t>
            </a:r>
            <a:r>
              <a:rPr lang="en-IN" dirty="0"/>
              <a:t>,</a:t>
            </a:r>
          </a:p>
          <a:p>
            <a:r>
              <a:rPr lang="en-IN" dirty="0"/>
              <a:t>    </a:t>
            </a:r>
            <a:r>
              <a:rPr lang="en-IN" dirty="0" err="1"/>
              <a:t>s.battery_capacity_mah</a:t>
            </a:r>
            <a:r>
              <a:rPr lang="en-IN" dirty="0"/>
              <a:t>,</a:t>
            </a:r>
          </a:p>
          <a:p>
            <a:r>
              <a:rPr lang="en-IN" dirty="0"/>
              <a:t>    </a:t>
            </a:r>
            <a:r>
              <a:rPr lang="en-IN" dirty="0" err="1"/>
              <a:t>p.price_india</a:t>
            </a:r>
            <a:endParaRPr lang="en-IN" dirty="0"/>
          </a:p>
          <a:p>
            <a:r>
              <a:rPr lang="en-IN" dirty="0"/>
              <a:t>FROM </a:t>
            </a:r>
          </a:p>
          <a:p>
            <a:r>
              <a:rPr lang="en-IN" dirty="0"/>
              <a:t>    Specifications s</a:t>
            </a:r>
          </a:p>
          <a:p>
            <a:r>
              <a:rPr lang="en-IN" dirty="0"/>
              <a:t>JOIN </a:t>
            </a:r>
          </a:p>
          <a:p>
            <a:r>
              <a:rPr lang="en-IN" dirty="0"/>
              <a:t>    Prices p </a:t>
            </a:r>
          </a:p>
          <a:p>
            <a:r>
              <a:rPr lang="en-IN" dirty="0"/>
              <a:t>    ON </a:t>
            </a:r>
            <a:r>
              <a:rPr lang="en-IN" dirty="0" err="1"/>
              <a:t>s.model_id</a:t>
            </a:r>
            <a:r>
              <a:rPr lang="en-IN" dirty="0"/>
              <a:t> = </a:t>
            </a:r>
            <a:r>
              <a:rPr lang="en-IN" dirty="0" err="1"/>
              <a:t>p.model_id</a:t>
            </a:r>
            <a:r>
              <a:rPr lang="en-IN" dirty="0"/>
              <a:t>;</a:t>
            </a:r>
          </a:p>
        </p:txBody>
      </p:sp>
      <p:pic>
        <p:nvPicPr>
          <p:cNvPr id="4" name="Picture 3">
            <a:extLst>
              <a:ext uri="{FF2B5EF4-FFF2-40B4-BE49-F238E27FC236}">
                <a16:creationId xmlns:a16="http://schemas.microsoft.com/office/drawing/2014/main" id="{926383A0-24C3-B935-92B8-5DA9A44A1E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7929" y="1914245"/>
            <a:ext cx="4790745" cy="3381847"/>
          </a:xfrm>
          <a:prstGeom prst="rect">
            <a:avLst/>
          </a:prstGeom>
        </p:spPr>
      </p:pic>
    </p:spTree>
    <p:extLst>
      <p:ext uri="{BB962C8B-B14F-4D97-AF65-F5344CB8AC3E}">
        <p14:creationId xmlns:p14="http://schemas.microsoft.com/office/powerpoint/2010/main" val="335157373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E629DF-B45C-57D4-1F30-6CBD00569D05}"/>
              </a:ext>
            </a:extLst>
          </p:cNvPr>
          <p:cNvSpPr txBox="1"/>
          <p:nvPr/>
        </p:nvSpPr>
        <p:spPr>
          <a:xfrm>
            <a:off x="822121" y="581548"/>
            <a:ext cx="7376020" cy="4832092"/>
          </a:xfrm>
          <a:prstGeom prst="rect">
            <a:avLst/>
          </a:prstGeom>
          <a:noFill/>
        </p:spPr>
        <p:txBody>
          <a:bodyPr wrap="square">
            <a:spAutoFit/>
          </a:bodyPr>
          <a:lstStyle/>
          <a:p>
            <a:r>
              <a:rPr lang="en-IN" sz="2000" b="1" dirty="0"/>
              <a:t>9.If </a:t>
            </a:r>
            <a:r>
              <a:rPr lang="en-IN" b="1" dirty="0"/>
              <a:t>I want a similar report as before but based on </a:t>
            </a:r>
            <a:r>
              <a:rPr lang="en-IN" b="1" dirty="0" err="1"/>
              <a:t>camera_mps</a:t>
            </a:r>
            <a:r>
              <a:rPr lang="en-IN" b="1" dirty="0"/>
              <a:t> and for all 3 countries launching prices from prices table</a:t>
            </a:r>
          </a:p>
          <a:p>
            <a:endParaRPr lang="en-IN" dirty="0"/>
          </a:p>
          <a:p>
            <a:r>
              <a:rPr lang="en-IN" dirty="0"/>
              <a:t>SELECT </a:t>
            </a:r>
          </a:p>
          <a:p>
            <a:r>
              <a:rPr lang="en-IN" dirty="0"/>
              <a:t>    </a:t>
            </a:r>
            <a:r>
              <a:rPr lang="en-IN" dirty="0" err="1"/>
              <a:t>s.front_camera_mp</a:t>
            </a:r>
            <a:r>
              <a:rPr lang="en-IN" dirty="0"/>
              <a:t>     AS "Front Camera",</a:t>
            </a:r>
          </a:p>
          <a:p>
            <a:r>
              <a:rPr lang="en-IN" dirty="0"/>
              <a:t>    </a:t>
            </a:r>
            <a:r>
              <a:rPr lang="en-IN" dirty="0" err="1"/>
              <a:t>s.back_camera_mp</a:t>
            </a:r>
            <a:r>
              <a:rPr lang="en-IN" dirty="0"/>
              <a:t>      AS "Back Camera",</a:t>
            </a:r>
          </a:p>
          <a:p>
            <a:r>
              <a:rPr lang="en-IN" dirty="0"/>
              <a:t>    </a:t>
            </a:r>
            <a:r>
              <a:rPr lang="en-IN" dirty="0" err="1"/>
              <a:t>p.price_india</a:t>
            </a:r>
            <a:r>
              <a:rPr lang="en-IN" dirty="0"/>
              <a:t>         AS "Price (India)",</a:t>
            </a:r>
          </a:p>
          <a:p>
            <a:r>
              <a:rPr lang="en-IN" dirty="0"/>
              <a:t>    </a:t>
            </a:r>
            <a:r>
              <a:rPr lang="en-IN" dirty="0" err="1"/>
              <a:t>p.price_china</a:t>
            </a:r>
            <a:r>
              <a:rPr lang="en-IN" dirty="0"/>
              <a:t>         AS "Price (China)",</a:t>
            </a:r>
          </a:p>
          <a:p>
            <a:r>
              <a:rPr lang="en-IN" dirty="0"/>
              <a:t>    </a:t>
            </a:r>
            <a:r>
              <a:rPr lang="en-IN" dirty="0" err="1"/>
              <a:t>p.price_usa</a:t>
            </a:r>
            <a:r>
              <a:rPr lang="en-IN" dirty="0"/>
              <a:t>           AS "Price (USA)"</a:t>
            </a:r>
          </a:p>
          <a:p>
            <a:r>
              <a:rPr lang="en-IN" dirty="0"/>
              <a:t>FROM </a:t>
            </a:r>
          </a:p>
          <a:p>
            <a:r>
              <a:rPr lang="en-IN" dirty="0"/>
              <a:t>    Specifications s</a:t>
            </a:r>
          </a:p>
          <a:p>
            <a:r>
              <a:rPr lang="en-IN" dirty="0"/>
              <a:t>JOIN </a:t>
            </a:r>
          </a:p>
          <a:p>
            <a:r>
              <a:rPr lang="en-IN" dirty="0"/>
              <a:t>    Prices p </a:t>
            </a:r>
          </a:p>
          <a:p>
            <a:r>
              <a:rPr lang="en-IN" dirty="0"/>
              <a:t>    ON </a:t>
            </a:r>
            <a:r>
              <a:rPr lang="en-IN" dirty="0" err="1"/>
              <a:t>s.model_id</a:t>
            </a:r>
            <a:r>
              <a:rPr lang="en-IN" dirty="0"/>
              <a:t> = </a:t>
            </a:r>
            <a:r>
              <a:rPr lang="en-IN" dirty="0" err="1"/>
              <a:t>p.model_id</a:t>
            </a:r>
            <a:endParaRPr lang="en-IN" dirty="0"/>
          </a:p>
          <a:p>
            <a:r>
              <a:rPr lang="en-IN" dirty="0"/>
              <a:t>ORDER BY </a:t>
            </a:r>
          </a:p>
          <a:p>
            <a:r>
              <a:rPr lang="en-IN" dirty="0"/>
              <a:t>    </a:t>
            </a:r>
            <a:r>
              <a:rPr lang="en-IN" dirty="0" err="1"/>
              <a:t>s.back_camera_mp</a:t>
            </a:r>
            <a:r>
              <a:rPr lang="en-IN" dirty="0"/>
              <a:t> DESC, </a:t>
            </a:r>
          </a:p>
          <a:p>
            <a:r>
              <a:rPr lang="en-IN" dirty="0"/>
              <a:t>    </a:t>
            </a:r>
            <a:r>
              <a:rPr lang="en-IN" dirty="0" err="1"/>
              <a:t>s.front_camera_mp</a:t>
            </a:r>
            <a:r>
              <a:rPr lang="en-IN" dirty="0"/>
              <a:t> DESC;</a:t>
            </a:r>
          </a:p>
        </p:txBody>
      </p:sp>
      <p:pic>
        <p:nvPicPr>
          <p:cNvPr id="4" name="Picture 3">
            <a:extLst>
              <a:ext uri="{FF2B5EF4-FFF2-40B4-BE49-F238E27FC236}">
                <a16:creationId xmlns:a16="http://schemas.microsoft.com/office/drawing/2014/main" id="{5A6A1C41-4B69-82E5-C28C-048A3692A2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5758" y="2494223"/>
            <a:ext cx="6382641" cy="3362794"/>
          </a:xfrm>
          <a:prstGeom prst="rect">
            <a:avLst/>
          </a:prstGeom>
        </p:spPr>
      </p:pic>
    </p:spTree>
    <p:extLst>
      <p:ext uri="{BB962C8B-B14F-4D97-AF65-F5344CB8AC3E}">
        <p14:creationId xmlns:p14="http://schemas.microsoft.com/office/powerpoint/2010/main" val="321626463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82ED6A-00C5-5DD6-DC2F-97D20B0E1DEF}"/>
              </a:ext>
            </a:extLst>
          </p:cNvPr>
          <p:cNvSpPr txBox="1"/>
          <p:nvPr/>
        </p:nvSpPr>
        <p:spPr>
          <a:xfrm>
            <a:off x="645952" y="199443"/>
            <a:ext cx="7147420" cy="5970865"/>
          </a:xfrm>
          <a:prstGeom prst="rect">
            <a:avLst/>
          </a:prstGeom>
          <a:noFill/>
        </p:spPr>
        <p:txBody>
          <a:bodyPr wrap="square">
            <a:spAutoFit/>
          </a:bodyPr>
          <a:lstStyle/>
          <a:p>
            <a:endParaRPr lang="en-IN" dirty="0"/>
          </a:p>
          <a:p>
            <a:r>
              <a:rPr lang="en-IN" sz="2000" b="1" dirty="0"/>
              <a:t>10.Now I wanted to generate a report which country launching prices are high or low </a:t>
            </a:r>
          </a:p>
          <a:p>
            <a:endParaRPr lang="en-IN" dirty="0"/>
          </a:p>
          <a:p>
            <a:r>
              <a:rPr lang="en-IN" dirty="0"/>
              <a:t>    SELECT </a:t>
            </a:r>
          </a:p>
          <a:p>
            <a:r>
              <a:rPr lang="en-IN" dirty="0"/>
              <a:t>    </a:t>
            </a:r>
            <a:r>
              <a:rPr lang="en-IN" dirty="0" err="1"/>
              <a:t>b.brand_name</a:t>
            </a:r>
            <a:r>
              <a:rPr lang="en-IN" dirty="0"/>
              <a:t>,</a:t>
            </a:r>
          </a:p>
          <a:p>
            <a:r>
              <a:rPr lang="en-IN" dirty="0"/>
              <a:t>    </a:t>
            </a:r>
            <a:r>
              <a:rPr lang="en-IN" dirty="0" err="1"/>
              <a:t>m.model_name</a:t>
            </a:r>
            <a:r>
              <a:rPr lang="en-IN" dirty="0"/>
              <a:t>,</a:t>
            </a:r>
          </a:p>
          <a:p>
            <a:r>
              <a:rPr lang="en-IN" dirty="0"/>
              <a:t>    </a:t>
            </a:r>
            <a:r>
              <a:rPr lang="en-IN" dirty="0" err="1"/>
              <a:t>p.price_india</a:t>
            </a:r>
            <a:r>
              <a:rPr lang="en-IN" dirty="0"/>
              <a:t> AS </a:t>
            </a:r>
            <a:r>
              <a:rPr lang="en-IN" dirty="0" err="1"/>
              <a:t>India_Price</a:t>
            </a:r>
            <a:r>
              <a:rPr lang="en-IN" dirty="0"/>
              <a:t>,</a:t>
            </a:r>
          </a:p>
          <a:p>
            <a:r>
              <a:rPr lang="en-IN" dirty="0"/>
              <a:t>    </a:t>
            </a:r>
            <a:r>
              <a:rPr lang="en-IN" dirty="0" err="1"/>
              <a:t>p.price_china</a:t>
            </a:r>
            <a:r>
              <a:rPr lang="en-IN" dirty="0"/>
              <a:t> AS </a:t>
            </a:r>
            <a:r>
              <a:rPr lang="en-IN" dirty="0" err="1"/>
              <a:t>China_Price</a:t>
            </a:r>
            <a:r>
              <a:rPr lang="en-IN" dirty="0"/>
              <a:t>,</a:t>
            </a:r>
          </a:p>
          <a:p>
            <a:r>
              <a:rPr lang="en-IN" dirty="0"/>
              <a:t>    </a:t>
            </a:r>
            <a:r>
              <a:rPr lang="en-IN" dirty="0" err="1"/>
              <a:t>p.price_usa</a:t>
            </a:r>
            <a:r>
              <a:rPr lang="en-IN" dirty="0"/>
              <a:t>   AS </a:t>
            </a:r>
            <a:r>
              <a:rPr lang="en-IN" dirty="0" err="1"/>
              <a:t>USA_Price</a:t>
            </a:r>
            <a:r>
              <a:rPr lang="en-IN" dirty="0"/>
              <a:t>,</a:t>
            </a:r>
          </a:p>
          <a:p>
            <a:r>
              <a:rPr lang="en-IN" dirty="0"/>
              <a:t>    GREATEST(</a:t>
            </a:r>
            <a:r>
              <a:rPr lang="en-IN" dirty="0" err="1"/>
              <a:t>p.price_india</a:t>
            </a:r>
            <a:r>
              <a:rPr lang="en-IN" dirty="0"/>
              <a:t>, </a:t>
            </a:r>
            <a:r>
              <a:rPr lang="en-IN" dirty="0" err="1"/>
              <a:t>p.price_china</a:t>
            </a:r>
            <a:r>
              <a:rPr lang="en-IN" dirty="0"/>
              <a:t>, </a:t>
            </a:r>
            <a:r>
              <a:rPr lang="en-IN" dirty="0" err="1"/>
              <a:t>p.price_usa</a:t>
            </a:r>
            <a:r>
              <a:rPr lang="en-IN" dirty="0"/>
              <a:t>) AS </a:t>
            </a:r>
            <a:r>
              <a:rPr lang="en-IN" dirty="0" err="1"/>
              <a:t>Highest_Price</a:t>
            </a:r>
            <a:r>
              <a:rPr lang="en-IN" dirty="0"/>
              <a:t>,</a:t>
            </a:r>
          </a:p>
          <a:p>
            <a:r>
              <a:rPr lang="en-IN" dirty="0"/>
              <a:t>    LEAST(</a:t>
            </a:r>
            <a:r>
              <a:rPr lang="en-IN" dirty="0" err="1"/>
              <a:t>p.price_india</a:t>
            </a:r>
            <a:r>
              <a:rPr lang="en-IN" dirty="0"/>
              <a:t>, </a:t>
            </a:r>
            <a:r>
              <a:rPr lang="en-IN" dirty="0" err="1"/>
              <a:t>p.price_china</a:t>
            </a:r>
            <a:r>
              <a:rPr lang="en-IN" dirty="0"/>
              <a:t>, </a:t>
            </a:r>
            <a:r>
              <a:rPr lang="en-IN" dirty="0" err="1"/>
              <a:t>p.price_usa</a:t>
            </a:r>
            <a:r>
              <a:rPr lang="en-IN" dirty="0"/>
              <a:t>)    AS </a:t>
            </a:r>
            <a:r>
              <a:rPr lang="en-IN" dirty="0" err="1"/>
              <a:t>Lowest_Price</a:t>
            </a:r>
            <a:endParaRPr lang="en-IN" dirty="0"/>
          </a:p>
          <a:p>
            <a:r>
              <a:rPr lang="en-IN" dirty="0"/>
              <a:t>FROM </a:t>
            </a:r>
          </a:p>
          <a:p>
            <a:r>
              <a:rPr lang="en-IN" dirty="0"/>
              <a:t>    Models m</a:t>
            </a:r>
          </a:p>
          <a:p>
            <a:r>
              <a:rPr lang="en-IN" dirty="0"/>
              <a:t>JOIN </a:t>
            </a:r>
          </a:p>
          <a:p>
            <a:r>
              <a:rPr lang="en-IN" dirty="0"/>
              <a:t>    Brands b ON </a:t>
            </a:r>
            <a:r>
              <a:rPr lang="en-IN" dirty="0" err="1"/>
              <a:t>m.brand_id</a:t>
            </a:r>
            <a:r>
              <a:rPr lang="en-IN" dirty="0"/>
              <a:t> = </a:t>
            </a:r>
            <a:r>
              <a:rPr lang="en-IN" dirty="0" err="1"/>
              <a:t>b.brand_id</a:t>
            </a:r>
            <a:endParaRPr lang="en-IN" dirty="0"/>
          </a:p>
          <a:p>
            <a:r>
              <a:rPr lang="en-IN" dirty="0"/>
              <a:t>JOIN </a:t>
            </a:r>
          </a:p>
          <a:p>
            <a:r>
              <a:rPr lang="en-IN" dirty="0"/>
              <a:t>    Prices p ON </a:t>
            </a:r>
            <a:r>
              <a:rPr lang="en-IN" dirty="0" err="1"/>
              <a:t>m.model_id</a:t>
            </a:r>
            <a:r>
              <a:rPr lang="en-IN" dirty="0"/>
              <a:t> = </a:t>
            </a:r>
            <a:r>
              <a:rPr lang="en-IN" dirty="0" err="1"/>
              <a:t>p.model_id</a:t>
            </a:r>
            <a:endParaRPr lang="en-IN" dirty="0"/>
          </a:p>
          <a:p>
            <a:r>
              <a:rPr lang="en-IN" dirty="0"/>
              <a:t>ORDER BY </a:t>
            </a:r>
          </a:p>
          <a:p>
            <a:r>
              <a:rPr lang="en-IN" dirty="0"/>
              <a:t>    </a:t>
            </a:r>
            <a:r>
              <a:rPr lang="en-IN" dirty="0" err="1"/>
              <a:t>b.brand_name</a:t>
            </a:r>
            <a:r>
              <a:rPr lang="en-IN" dirty="0"/>
              <a:t>,</a:t>
            </a:r>
          </a:p>
          <a:p>
            <a:r>
              <a:rPr lang="en-IN" dirty="0"/>
              <a:t>    </a:t>
            </a:r>
            <a:r>
              <a:rPr lang="en-IN" dirty="0" err="1"/>
              <a:t>m.model_name</a:t>
            </a:r>
            <a:r>
              <a:rPr lang="en-IN" dirty="0"/>
              <a:t>;</a:t>
            </a:r>
          </a:p>
        </p:txBody>
      </p:sp>
      <p:pic>
        <p:nvPicPr>
          <p:cNvPr id="6" name="Picture 5">
            <a:extLst>
              <a:ext uri="{FF2B5EF4-FFF2-40B4-BE49-F238E27FC236}">
                <a16:creationId xmlns:a16="http://schemas.microsoft.com/office/drawing/2014/main" id="{B9FDCF59-D30D-CC67-09C1-4A465DB889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7210" y="3708400"/>
            <a:ext cx="6883400" cy="2950157"/>
          </a:xfrm>
          <a:prstGeom prst="rect">
            <a:avLst/>
          </a:prstGeom>
        </p:spPr>
      </p:pic>
    </p:spTree>
    <p:extLst>
      <p:ext uri="{BB962C8B-B14F-4D97-AF65-F5344CB8AC3E}">
        <p14:creationId xmlns:p14="http://schemas.microsoft.com/office/powerpoint/2010/main" val="297572477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948ABF-2BCB-150F-9366-44B1DEE40169}"/>
              </a:ext>
            </a:extLst>
          </p:cNvPr>
          <p:cNvSpPr txBox="1"/>
          <p:nvPr/>
        </p:nvSpPr>
        <p:spPr>
          <a:xfrm>
            <a:off x="645952" y="241551"/>
            <a:ext cx="6652470" cy="6001643"/>
          </a:xfrm>
          <a:prstGeom prst="rect">
            <a:avLst/>
          </a:prstGeom>
          <a:noFill/>
        </p:spPr>
        <p:txBody>
          <a:bodyPr wrap="square">
            <a:spAutoFit/>
          </a:bodyPr>
          <a:lstStyle/>
          <a:p>
            <a:endParaRPr lang="en-IN" sz="2000" b="1" dirty="0"/>
          </a:p>
          <a:p>
            <a:r>
              <a:rPr lang="en-IN" sz="2000" b="1" dirty="0"/>
              <a:t>11. From the previous report I just want to show the top 5 lowest launching price  with the country (USA)</a:t>
            </a:r>
          </a:p>
          <a:p>
            <a:endParaRPr lang="en-IN" dirty="0"/>
          </a:p>
          <a:p>
            <a:r>
              <a:rPr lang="en-IN" dirty="0"/>
              <a:t>SELECT </a:t>
            </a:r>
          </a:p>
          <a:p>
            <a:r>
              <a:rPr lang="en-IN" dirty="0"/>
              <a:t>    </a:t>
            </a:r>
            <a:r>
              <a:rPr lang="en-IN" dirty="0" err="1"/>
              <a:t>b.brand_name</a:t>
            </a:r>
            <a:r>
              <a:rPr lang="en-IN" dirty="0"/>
              <a:t>,</a:t>
            </a:r>
          </a:p>
          <a:p>
            <a:r>
              <a:rPr lang="en-IN" dirty="0"/>
              <a:t>    </a:t>
            </a:r>
            <a:r>
              <a:rPr lang="en-IN" dirty="0" err="1"/>
              <a:t>m.model_name</a:t>
            </a:r>
            <a:r>
              <a:rPr lang="en-IN" dirty="0"/>
              <a:t>,</a:t>
            </a:r>
          </a:p>
          <a:p>
            <a:r>
              <a:rPr lang="en-IN" dirty="0"/>
              <a:t>    </a:t>
            </a:r>
            <a:r>
              <a:rPr lang="en-IN" dirty="0" err="1"/>
              <a:t>p.price_usa</a:t>
            </a:r>
            <a:r>
              <a:rPr lang="en-IN" dirty="0"/>
              <a:t> AS </a:t>
            </a:r>
            <a:r>
              <a:rPr lang="en-IN" dirty="0" err="1"/>
              <a:t>lowest_price</a:t>
            </a:r>
            <a:r>
              <a:rPr lang="en-IN" dirty="0"/>
              <a:t>,</a:t>
            </a:r>
          </a:p>
          <a:p>
            <a:r>
              <a:rPr lang="en-IN" dirty="0"/>
              <a:t>    'USA' AS </a:t>
            </a:r>
            <a:r>
              <a:rPr lang="en-IN" dirty="0" err="1"/>
              <a:t>lowest_price_country</a:t>
            </a:r>
            <a:endParaRPr lang="en-IN" dirty="0"/>
          </a:p>
          <a:p>
            <a:r>
              <a:rPr lang="en-IN" dirty="0"/>
              <a:t>FROM </a:t>
            </a:r>
          </a:p>
          <a:p>
            <a:r>
              <a:rPr lang="en-IN" dirty="0"/>
              <a:t>    Models m</a:t>
            </a:r>
          </a:p>
          <a:p>
            <a:r>
              <a:rPr lang="en-IN" dirty="0"/>
              <a:t>JOIN </a:t>
            </a:r>
          </a:p>
          <a:p>
            <a:r>
              <a:rPr lang="en-IN" dirty="0"/>
              <a:t>    Brands b ON </a:t>
            </a:r>
            <a:r>
              <a:rPr lang="en-IN" dirty="0" err="1"/>
              <a:t>m.brand_id</a:t>
            </a:r>
            <a:r>
              <a:rPr lang="en-IN" dirty="0"/>
              <a:t> = </a:t>
            </a:r>
            <a:r>
              <a:rPr lang="en-IN" dirty="0" err="1"/>
              <a:t>b.brand_id</a:t>
            </a:r>
            <a:endParaRPr lang="en-IN" dirty="0"/>
          </a:p>
          <a:p>
            <a:r>
              <a:rPr lang="en-IN" dirty="0"/>
              <a:t>JOIN </a:t>
            </a:r>
          </a:p>
          <a:p>
            <a:r>
              <a:rPr lang="en-IN" dirty="0"/>
              <a:t>    Prices p ON </a:t>
            </a:r>
            <a:r>
              <a:rPr lang="en-IN" dirty="0" err="1"/>
              <a:t>m.model_id</a:t>
            </a:r>
            <a:r>
              <a:rPr lang="en-IN" dirty="0"/>
              <a:t> = </a:t>
            </a:r>
            <a:r>
              <a:rPr lang="en-IN" dirty="0" err="1"/>
              <a:t>p.model_id</a:t>
            </a:r>
            <a:endParaRPr lang="en-IN" dirty="0"/>
          </a:p>
          <a:p>
            <a:r>
              <a:rPr lang="en-IN" dirty="0"/>
              <a:t>WHERE </a:t>
            </a:r>
          </a:p>
          <a:p>
            <a:r>
              <a:rPr lang="en-IN" dirty="0"/>
              <a:t>    </a:t>
            </a:r>
            <a:r>
              <a:rPr lang="en-IN" dirty="0" err="1"/>
              <a:t>p.price_usa</a:t>
            </a:r>
            <a:r>
              <a:rPr lang="en-IN" dirty="0"/>
              <a:t> &lt; </a:t>
            </a:r>
            <a:r>
              <a:rPr lang="en-IN" dirty="0" err="1"/>
              <a:t>p.price_india</a:t>
            </a:r>
            <a:endParaRPr lang="en-IN" dirty="0"/>
          </a:p>
          <a:p>
            <a:r>
              <a:rPr lang="en-IN" dirty="0"/>
              <a:t>    AND </a:t>
            </a:r>
            <a:r>
              <a:rPr lang="en-IN" dirty="0" err="1"/>
              <a:t>p.price_usa</a:t>
            </a:r>
            <a:r>
              <a:rPr lang="en-IN" dirty="0"/>
              <a:t> &lt; </a:t>
            </a:r>
            <a:r>
              <a:rPr lang="en-IN" dirty="0" err="1"/>
              <a:t>p.price_china</a:t>
            </a:r>
            <a:endParaRPr lang="en-IN" dirty="0"/>
          </a:p>
          <a:p>
            <a:r>
              <a:rPr lang="en-IN" dirty="0"/>
              <a:t>ORDER BY </a:t>
            </a:r>
          </a:p>
          <a:p>
            <a:r>
              <a:rPr lang="en-IN" dirty="0"/>
              <a:t>    </a:t>
            </a:r>
            <a:r>
              <a:rPr lang="en-IN" dirty="0" err="1"/>
              <a:t>lowest_price</a:t>
            </a:r>
            <a:r>
              <a:rPr lang="en-IN" dirty="0"/>
              <a:t> ASC</a:t>
            </a:r>
          </a:p>
          <a:p>
            <a:r>
              <a:rPr lang="en-IN" dirty="0"/>
              <a:t>LIMIT 5;</a:t>
            </a:r>
          </a:p>
        </p:txBody>
      </p:sp>
      <p:pic>
        <p:nvPicPr>
          <p:cNvPr id="4" name="Picture 3">
            <a:extLst>
              <a:ext uri="{FF2B5EF4-FFF2-40B4-BE49-F238E27FC236}">
                <a16:creationId xmlns:a16="http://schemas.microsoft.com/office/drawing/2014/main" id="{1235A2F4-6BC6-23A0-3D8A-CA40A47CE2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9591" y="1472501"/>
            <a:ext cx="7372167" cy="4592739"/>
          </a:xfrm>
          <a:prstGeom prst="rect">
            <a:avLst/>
          </a:prstGeom>
        </p:spPr>
      </p:pic>
    </p:spTree>
    <p:extLst>
      <p:ext uri="{BB962C8B-B14F-4D97-AF65-F5344CB8AC3E}">
        <p14:creationId xmlns:p14="http://schemas.microsoft.com/office/powerpoint/2010/main" val="309671909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pic>
        <p:nvPicPr>
          <p:cNvPr id="65" name="Picture 2">
            <a:extLst>
              <a:ext uri="{FF2B5EF4-FFF2-40B4-BE49-F238E27FC236}">
                <a16:creationId xmlns:a16="http://schemas.microsoft.com/office/drawing/2014/main" id="{519FA62B-A2C9-49F5-8C45-9D5CDCD72B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nvGrpSpPr>
          <p:cNvPr id="66" name="Group 65">
            <a:extLst>
              <a:ext uri="{FF2B5EF4-FFF2-40B4-BE49-F238E27FC236}">
                <a16:creationId xmlns:a16="http://schemas.microsoft.com/office/drawing/2014/main" id="{A24E966C-35F3-4DB1-8C23-4BC252E4E4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13" name="Group 12">
              <a:extLst>
                <a:ext uri="{FF2B5EF4-FFF2-40B4-BE49-F238E27FC236}">
                  <a16:creationId xmlns:a16="http://schemas.microsoft.com/office/drawing/2014/main" id="{C24ADCBC-2A94-4F6E-BC8D-278612B7ACF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pFill/>
          </p:grpSpPr>
          <p:sp>
            <p:nvSpPr>
              <p:cNvPr id="25" name="Rectangle 5">
                <a:extLst>
                  <a:ext uri="{FF2B5EF4-FFF2-40B4-BE49-F238E27FC236}">
                    <a16:creationId xmlns:a16="http://schemas.microsoft.com/office/drawing/2014/main" id="{38F45A3E-0BAF-4E7A-AD24-51B345041D5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26" name="Freeform 6">
                <a:extLst>
                  <a:ext uri="{FF2B5EF4-FFF2-40B4-BE49-F238E27FC236}">
                    <a16:creationId xmlns:a16="http://schemas.microsoft.com/office/drawing/2014/main" id="{5340FE26-BABB-409C-A32A-B3D10BD235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7" name="Freeform 7">
                <a:extLst>
                  <a:ext uri="{FF2B5EF4-FFF2-40B4-BE49-F238E27FC236}">
                    <a16:creationId xmlns:a16="http://schemas.microsoft.com/office/drawing/2014/main" id="{A9468B59-1984-42C3-88A4-942CF6EF75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8" name="Freeform 8">
                <a:extLst>
                  <a:ext uri="{FF2B5EF4-FFF2-40B4-BE49-F238E27FC236}">
                    <a16:creationId xmlns:a16="http://schemas.microsoft.com/office/drawing/2014/main" id="{F6B5E914-0078-49CC-AD42-C97DC361CD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9" name="Freeform 9">
                <a:extLst>
                  <a:ext uri="{FF2B5EF4-FFF2-40B4-BE49-F238E27FC236}">
                    <a16:creationId xmlns:a16="http://schemas.microsoft.com/office/drawing/2014/main" id="{D18B3F5A-0978-48AE-9360-8ABC8CEABB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0" name="Freeform 10">
                <a:extLst>
                  <a:ext uri="{FF2B5EF4-FFF2-40B4-BE49-F238E27FC236}">
                    <a16:creationId xmlns:a16="http://schemas.microsoft.com/office/drawing/2014/main" id="{27E73F9B-CBFF-473A-9B41-8964B831E9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1" name="Freeform 11">
                <a:extLst>
                  <a:ext uri="{FF2B5EF4-FFF2-40B4-BE49-F238E27FC236}">
                    <a16:creationId xmlns:a16="http://schemas.microsoft.com/office/drawing/2014/main" id="{558218B5-0904-4C19-8935-1A64432BC2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2" name="Freeform 12">
                <a:extLst>
                  <a:ext uri="{FF2B5EF4-FFF2-40B4-BE49-F238E27FC236}">
                    <a16:creationId xmlns:a16="http://schemas.microsoft.com/office/drawing/2014/main" id="{DBCBCB59-A700-4032-AB43-CB06687996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3" name="Freeform 13">
                <a:extLst>
                  <a:ext uri="{FF2B5EF4-FFF2-40B4-BE49-F238E27FC236}">
                    <a16:creationId xmlns:a16="http://schemas.microsoft.com/office/drawing/2014/main" id="{861A9C11-1685-4F09-B995-D5ECAD153F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4" name="Freeform 14">
                <a:extLst>
                  <a:ext uri="{FF2B5EF4-FFF2-40B4-BE49-F238E27FC236}">
                    <a16:creationId xmlns:a16="http://schemas.microsoft.com/office/drawing/2014/main" id="{57CCC420-3BF0-4A3E-A4FB-41537B064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5" name="Freeform 15">
                <a:extLst>
                  <a:ext uri="{FF2B5EF4-FFF2-40B4-BE49-F238E27FC236}">
                    <a16:creationId xmlns:a16="http://schemas.microsoft.com/office/drawing/2014/main" id="{1DEFC6D1-15DA-4DDC-8FD1-B7630B8D60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6" name="Line 16">
                <a:extLst>
                  <a:ext uri="{FF2B5EF4-FFF2-40B4-BE49-F238E27FC236}">
                    <a16:creationId xmlns:a16="http://schemas.microsoft.com/office/drawing/2014/main" id="{0C6F2EE9-81FE-4B46-9513-6EC7D930124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sp>
          <p:sp>
            <p:nvSpPr>
              <p:cNvPr id="37" name="Freeform 17">
                <a:extLst>
                  <a:ext uri="{FF2B5EF4-FFF2-40B4-BE49-F238E27FC236}">
                    <a16:creationId xmlns:a16="http://schemas.microsoft.com/office/drawing/2014/main" id="{26DF77E9-F68C-4FE0-864E-A4A4DE3616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8" name="Freeform 18">
                <a:extLst>
                  <a:ext uri="{FF2B5EF4-FFF2-40B4-BE49-F238E27FC236}">
                    <a16:creationId xmlns:a16="http://schemas.microsoft.com/office/drawing/2014/main" id="{9D3495ED-B588-4755-B8BB-18D33E4AC4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39" name="Freeform 19">
                <a:extLst>
                  <a:ext uri="{FF2B5EF4-FFF2-40B4-BE49-F238E27FC236}">
                    <a16:creationId xmlns:a16="http://schemas.microsoft.com/office/drawing/2014/main" id="{E76105FE-305A-42A7-B2DD-388B99FAB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0" name="Freeform 20">
                <a:extLst>
                  <a:ext uri="{FF2B5EF4-FFF2-40B4-BE49-F238E27FC236}">
                    <a16:creationId xmlns:a16="http://schemas.microsoft.com/office/drawing/2014/main" id="{F1883F6E-6FAE-49E2-AE28-02B88BEBF6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1" name="Rectangle 21">
                <a:extLst>
                  <a:ext uri="{FF2B5EF4-FFF2-40B4-BE49-F238E27FC236}">
                    <a16:creationId xmlns:a16="http://schemas.microsoft.com/office/drawing/2014/main" id="{8C8A198F-A0AA-455F-ACD5-8587457BDD5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sp>
            <p:nvSpPr>
              <p:cNvPr id="42" name="Freeform 22">
                <a:extLst>
                  <a:ext uri="{FF2B5EF4-FFF2-40B4-BE49-F238E27FC236}">
                    <a16:creationId xmlns:a16="http://schemas.microsoft.com/office/drawing/2014/main" id="{E57E155C-0F05-498E-B0E3-33AE15B7E8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3" name="Freeform 23">
                <a:extLst>
                  <a:ext uri="{FF2B5EF4-FFF2-40B4-BE49-F238E27FC236}">
                    <a16:creationId xmlns:a16="http://schemas.microsoft.com/office/drawing/2014/main" id="{3D7FB1D7-F9DB-443D-A2D4-40C46F6975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4" name="Freeform 24">
                <a:extLst>
                  <a:ext uri="{FF2B5EF4-FFF2-40B4-BE49-F238E27FC236}">
                    <a16:creationId xmlns:a16="http://schemas.microsoft.com/office/drawing/2014/main" id="{9EF7FB08-B52A-4C0D-BF32-AC6D91AE99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5" name="Freeform 25">
                <a:extLst>
                  <a:ext uri="{FF2B5EF4-FFF2-40B4-BE49-F238E27FC236}">
                    <a16:creationId xmlns:a16="http://schemas.microsoft.com/office/drawing/2014/main" id="{2A27D708-7911-4EAB-8A9D-E608726B57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6" name="Freeform 26">
                <a:extLst>
                  <a:ext uri="{FF2B5EF4-FFF2-40B4-BE49-F238E27FC236}">
                    <a16:creationId xmlns:a16="http://schemas.microsoft.com/office/drawing/2014/main" id="{40A3E3AC-335B-4EAB-A5D4-E72C8434A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7" name="Freeform 27">
                <a:extLst>
                  <a:ext uri="{FF2B5EF4-FFF2-40B4-BE49-F238E27FC236}">
                    <a16:creationId xmlns:a16="http://schemas.microsoft.com/office/drawing/2014/main" id="{FC4E923E-7CEC-4950-8C12-F40EAE7A3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8" name="Freeform 28">
                <a:extLst>
                  <a:ext uri="{FF2B5EF4-FFF2-40B4-BE49-F238E27FC236}">
                    <a16:creationId xmlns:a16="http://schemas.microsoft.com/office/drawing/2014/main" id="{23A92FB5-3211-4195-8FFA-A8F49F6777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49" name="Freeform 29">
                <a:extLst>
                  <a:ext uri="{FF2B5EF4-FFF2-40B4-BE49-F238E27FC236}">
                    <a16:creationId xmlns:a16="http://schemas.microsoft.com/office/drawing/2014/main" id="{BB88442A-84E1-4264-BD24-B14020F21E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0" name="Freeform 30">
                <a:extLst>
                  <a:ext uri="{FF2B5EF4-FFF2-40B4-BE49-F238E27FC236}">
                    <a16:creationId xmlns:a16="http://schemas.microsoft.com/office/drawing/2014/main" id="{B47AD665-0844-40BF-AE62-BA493929C5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51" name="Freeform 31">
                <a:extLst>
                  <a:ext uri="{FF2B5EF4-FFF2-40B4-BE49-F238E27FC236}">
                    <a16:creationId xmlns:a16="http://schemas.microsoft.com/office/drawing/2014/main" id="{01D8E540-292C-4867-BD21-43910262E9F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grpSp>
        <p:grpSp>
          <p:nvGrpSpPr>
            <p:cNvPr id="14" name="Group 13">
              <a:extLst>
                <a:ext uri="{FF2B5EF4-FFF2-40B4-BE49-F238E27FC236}">
                  <a16:creationId xmlns:a16="http://schemas.microsoft.com/office/drawing/2014/main" id="{A00C8F50-D632-4BE8-B5BF-8AEAE2D1326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pFill/>
          </p:grpSpPr>
          <p:sp>
            <p:nvSpPr>
              <p:cNvPr id="15" name="Freeform 32">
                <a:extLst>
                  <a:ext uri="{FF2B5EF4-FFF2-40B4-BE49-F238E27FC236}">
                    <a16:creationId xmlns:a16="http://schemas.microsoft.com/office/drawing/2014/main" id="{7870CC07-8D37-4F4D-A73B-9762FFAB1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6" name="Freeform 33">
                <a:extLst>
                  <a:ext uri="{FF2B5EF4-FFF2-40B4-BE49-F238E27FC236}">
                    <a16:creationId xmlns:a16="http://schemas.microsoft.com/office/drawing/2014/main" id="{06B84BAB-C27B-4804-9496-FDDA7FF6F2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7" name="Freeform 34">
                <a:extLst>
                  <a:ext uri="{FF2B5EF4-FFF2-40B4-BE49-F238E27FC236}">
                    <a16:creationId xmlns:a16="http://schemas.microsoft.com/office/drawing/2014/main" id="{45E90447-AF32-4C90-8940-D5EBE9F640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8" name="Freeform 35">
                <a:extLst>
                  <a:ext uri="{FF2B5EF4-FFF2-40B4-BE49-F238E27FC236}">
                    <a16:creationId xmlns:a16="http://schemas.microsoft.com/office/drawing/2014/main" id="{DFD35AB5-2871-471E-87D3-C3C024C31E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19" name="Freeform 36">
                <a:extLst>
                  <a:ext uri="{FF2B5EF4-FFF2-40B4-BE49-F238E27FC236}">
                    <a16:creationId xmlns:a16="http://schemas.microsoft.com/office/drawing/2014/main" id="{60EED77B-C4CD-44DE-B7AA-472CBEE6EC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0" name="Freeform 37">
                <a:extLst>
                  <a:ext uri="{FF2B5EF4-FFF2-40B4-BE49-F238E27FC236}">
                    <a16:creationId xmlns:a16="http://schemas.microsoft.com/office/drawing/2014/main" id="{68122908-2E24-4971-A70E-29CFE953E5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1" name="Freeform 38">
                <a:extLst>
                  <a:ext uri="{FF2B5EF4-FFF2-40B4-BE49-F238E27FC236}">
                    <a16:creationId xmlns:a16="http://schemas.microsoft.com/office/drawing/2014/main" id="{43930918-848F-4F70-8C42-426DCCB4D4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2" name="Freeform 39">
                <a:extLst>
                  <a:ext uri="{FF2B5EF4-FFF2-40B4-BE49-F238E27FC236}">
                    <a16:creationId xmlns:a16="http://schemas.microsoft.com/office/drawing/2014/main" id="{7C2C1A0B-06A1-4F89-9A58-66CAB57F1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3" name="Freeform 40">
                <a:extLst>
                  <a:ext uri="{FF2B5EF4-FFF2-40B4-BE49-F238E27FC236}">
                    <a16:creationId xmlns:a16="http://schemas.microsoft.com/office/drawing/2014/main" id="{F26FAEF0-6EA1-41B4-AC1D-0BC56E43EF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sp>
          <p:sp>
            <p:nvSpPr>
              <p:cNvPr id="24" name="Rectangle 41">
                <a:extLst>
                  <a:ext uri="{FF2B5EF4-FFF2-40B4-BE49-F238E27FC236}">
                    <a16:creationId xmlns:a16="http://schemas.microsoft.com/office/drawing/2014/main" id="{563F085C-A9C1-47AB-9656-468B79DE5A2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sp>
        </p:grpSp>
      </p:grpSp>
      <p:sp>
        <p:nvSpPr>
          <p:cNvPr id="5" name="TextBox 4">
            <a:extLst>
              <a:ext uri="{FF2B5EF4-FFF2-40B4-BE49-F238E27FC236}">
                <a16:creationId xmlns:a16="http://schemas.microsoft.com/office/drawing/2014/main" id="{85DA0A27-7E52-3AE5-7C15-04DBE2FA02E7}"/>
              </a:ext>
            </a:extLst>
          </p:cNvPr>
          <p:cNvSpPr txBox="1"/>
          <p:nvPr/>
        </p:nvSpPr>
        <p:spPr>
          <a:xfrm>
            <a:off x="1141413" y="618518"/>
            <a:ext cx="9905998" cy="1478570"/>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3600" b="1" cap="all">
                <a:latin typeface="+mj-lt"/>
                <a:ea typeface="+mj-ea"/>
                <a:cs typeface="+mj-cs"/>
              </a:rPr>
              <a:t>CONCLUSION :</a:t>
            </a:r>
          </a:p>
        </p:txBody>
      </p:sp>
      <p:pic>
        <p:nvPicPr>
          <p:cNvPr id="2" name="Picture 1" descr="A finger pointing at a screen&#10;&#10;AI-generated content may be incorrect.">
            <a:extLst>
              <a:ext uri="{FF2B5EF4-FFF2-40B4-BE49-F238E27FC236}">
                <a16:creationId xmlns:a16="http://schemas.microsoft.com/office/drawing/2014/main" id="{0F66F06F-6FA0-E4A7-020C-53E8F9A374DA}"/>
              </a:ext>
            </a:extLst>
          </p:cNvPr>
          <p:cNvPicPr>
            <a:picLocks noChangeAspect="1"/>
          </p:cNvPicPr>
          <p:nvPr/>
        </p:nvPicPr>
        <p:blipFill>
          <a:blip r:embed="rId4"/>
          <a:srcRect t="28644" b="5980"/>
          <a:stretch>
            <a:fillRect/>
          </a:stretch>
        </p:blipFill>
        <p:spPr>
          <a:xfrm>
            <a:off x="1141412" y="2084432"/>
            <a:ext cx="4830038" cy="3538671"/>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4" name="TextBox 3">
            <a:extLst>
              <a:ext uri="{FF2B5EF4-FFF2-40B4-BE49-F238E27FC236}">
                <a16:creationId xmlns:a16="http://schemas.microsoft.com/office/drawing/2014/main" id="{9022DAE0-716D-9663-3E3C-04BFEAFE7657}"/>
              </a:ext>
            </a:extLst>
          </p:cNvPr>
          <p:cNvSpPr txBox="1"/>
          <p:nvPr/>
        </p:nvSpPr>
        <p:spPr>
          <a:xfrm>
            <a:off x="6204479" y="2249487"/>
            <a:ext cx="4844521" cy="3541714"/>
          </a:xfrm>
          <a:prstGeom prst="rect">
            <a:avLst/>
          </a:prstGeom>
        </p:spPr>
        <p:txBody>
          <a:bodyPr vert="horz" lIns="91440" tIns="45720" rIns="91440" bIns="45720" rtlCol="0" anchor="ctr">
            <a:normAutofit/>
          </a:bodyPr>
          <a:lstStyle/>
          <a:p>
            <a:pPr indent="-228600" defTabSz="914400">
              <a:lnSpc>
                <a:spcPct val="110000"/>
              </a:lnSpc>
              <a:spcAft>
                <a:spcPts val="600"/>
              </a:spcAft>
              <a:buSzPct val="125000"/>
              <a:buFont typeface="Arial" panose="020B0604020202020204" pitchFamily="34" charset="0"/>
              <a:buChar char="•"/>
            </a:pPr>
            <a:r>
              <a:rPr lang="en-US" sz="1700"/>
              <a:t>The MySQL-based analysis of the smartphone dataset has provided valuable insights into the mobile phone market across three countries (INDIA,CHINA and USA), revealing </a:t>
            </a:r>
            <a:r>
              <a:rPr lang="en-US" sz="1700" b="1"/>
              <a:t>trends in pricing, features(storage, ram, weight ,screen size ) and brand preferences</a:t>
            </a:r>
            <a:r>
              <a:rPr lang="en-US" sz="1700"/>
              <a:t>. The structured data management capabilities of MySQL allowed </a:t>
            </a:r>
            <a:r>
              <a:rPr lang="en-US" sz="1700" b="1"/>
              <a:t>for efficient storage, querying, and analysis </a:t>
            </a:r>
            <a:r>
              <a:rPr lang="en-US" sz="1700"/>
              <a:t>of this complex dataset. This project demonstrates the power of relational databases in handling large, multifaceted datasets and offers a foundation for further exploration into mobile phone market dynamics.</a:t>
            </a:r>
          </a:p>
        </p:txBody>
      </p:sp>
    </p:spTree>
    <p:extLst>
      <p:ext uri="{BB962C8B-B14F-4D97-AF65-F5344CB8AC3E}">
        <p14:creationId xmlns:p14="http://schemas.microsoft.com/office/powerpoint/2010/main" val="324770417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FE88786-7EC9-4CF1-8553-2C3021944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6"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2">
            <a:extLst>
              <a:ext uri="{FF2B5EF4-FFF2-40B4-BE49-F238E27FC236}">
                <a16:creationId xmlns:a16="http://schemas.microsoft.com/office/drawing/2014/main" id="{86D8F06D-0176-412D-A69C-AF7042B7EE9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4287" y="-1"/>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pic>
        <p:nvPicPr>
          <p:cNvPr id="2" name="Picture 1">
            <a:extLst>
              <a:ext uri="{FF2B5EF4-FFF2-40B4-BE49-F238E27FC236}">
                <a16:creationId xmlns:a16="http://schemas.microsoft.com/office/drawing/2014/main" id="{0923E222-76E8-5296-4CE6-9A5D728C7F0B}"/>
              </a:ext>
            </a:extLst>
          </p:cNvPr>
          <p:cNvPicPr>
            <a:picLocks noChangeAspect="1"/>
          </p:cNvPicPr>
          <p:nvPr/>
        </p:nvPicPr>
        <p:blipFill>
          <a:blip r:embed="rId4">
            <a:duotone>
              <a:schemeClr val="bg2">
                <a:shade val="45000"/>
                <a:satMod val="135000"/>
              </a:schemeClr>
              <a:prstClr val="white"/>
            </a:duotone>
            <a:alphaModFix amt="50000"/>
          </a:blip>
          <a:srcRect t="27623" r="-1" b="16112"/>
          <a:stretch>
            <a:fillRect/>
          </a:stretch>
        </p:blipFill>
        <p:spPr>
          <a:xfrm>
            <a:off x="-12088" y="-4187"/>
            <a:ext cx="12188932" cy="6857990"/>
          </a:xfrm>
          <a:prstGeom prst="rect">
            <a:avLst/>
          </a:prstGeom>
        </p:spPr>
      </p:pic>
      <p:pic>
        <p:nvPicPr>
          <p:cNvPr id="11" name="Picture 2">
            <a:extLst>
              <a:ext uri="{FF2B5EF4-FFF2-40B4-BE49-F238E27FC236}">
                <a16:creationId xmlns:a16="http://schemas.microsoft.com/office/drawing/2014/main" id="{815562A4-61AD-4BDB-9BDB-34860AE47A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grpSp>
        <p:nvGrpSpPr>
          <p:cNvPr id="13" name="Group 12">
            <a:extLst>
              <a:ext uri="{FF2B5EF4-FFF2-40B4-BE49-F238E27FC236}">
                <a16:creationId xmlns:a16="http://schemas.microsoft.com/office/drawing/2014/main" id="{AFCC34F2-8A34-4176-9DCF-3E14806B31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2281238" cy="5289551"/>
            <a:chOff x="0" y="-1"/>
            <a:chExt cx="2281238" cy="5289551"/>
          </a:xfrm>
        </p:grpSpPr>
        <p:sp>
          <p:nvSpPr>
            <p:cNvPr id="14" name="Rectangle 13">
              <a:extLst>
                <a:ext uri="{FF2B5EF4-FFF2-40B4-BE49-F238E27FC236}">
                  <a16:creationId xmlns:a16="http://schemas.microsoft.com/office/drawing/2014/main" id="{F40BA3D3-5C32-487A-9075-A58936161C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2"/>
              <a:ext cx="23813" cy="2181225"/>
            </a:xfrm>
            <a:prstGeom prst="rect">
              <a:avLst/>
            </a:pr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15" name="Freeform 6">
              <a:extLst>
                <a:ext uri="{FF2B5EF4-FFF2-40B4-BE49-F238E27FC236}">
                  <a16:creationId xmlns:a16="http://schemas.microsoft.com/office/drawing/2014/main" id="{FD540F57-24D0-48B9-A757-6CB90ABA88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2"/>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6" name="Freeform 7">
              <a:extLst>
                <a:ext uri="{FF2B5EF4-FFF2-40B4-BE49-F238E27FC236}">
                  <a16:creationId xmlns:a16="http://schemas.microsoft.com/office/drawing/2014/main" id="{BC55DC16-C6F7-40B2-BDDA-E20013DF9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7"/>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7" name="Rectangle 16">
              <a:extLst>
                <a:ext uri="{FF2B5EF4-FFF2-40B4-BE49-F238E27FC236}">
                  <a16:creationId xmlns:a16="http://schemas.microsoft.com/office/drawing/2014/main" id="{02099AB7-3243-4017-93A6-3D3D75B8DE7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4"/>
              <a:ext cx="28575" cy="4481513"/>
            </a:xfrm>
            <a:prstGeom prst="rect">
              <a:avLst/>
            </a:pr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sp>
          <p:nvSpPr>
            <p:cNvPr id="18" name="Freeform 9">
              <a:extLst>
                <a:ext uri="{FF2B5EF4-FFF2-40B4-BE49-F238E27FC236}">
                  <a16:creationId xmlns:a16="http://schemas.microsoft.com/office/drawing/2014/main" id="{5785EDD4-607A-42A6-AD18-522E7F9221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2"/>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19" name="Freeform 10">
              <a:extLst>
                <a:ext uri="{FF2B5EF4-FFF2-40B4-BE49-F238E27FC236}">
                  <a16:creationId xmlns:a16="http://schemas.microsoft.com/office/drawing/2014/main" id="{98903418-1A46-441B-B206-5ABCE33E0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4"/>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0" name="Freeform 11">
              <a:extLst>
                <a:ext uri="{FF2B5EF4-FFF2-40B4-BE49-F238E27FC236}">
                  <a16:creationId xmlns:a16="http://schemas.microsoft.com/office/drawing/2014/main" id="{CF7D484C-2C11-4D25-B175-68D32920F1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7"/>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1" name="Freeform 12">
              <a:extLst>
                <a:ext uri="{FF2B5EF4-FFF2-40B4-BE49-F238E27FC236}">
                  <a16:creationId xmlns:a16="http://schemas.microsoft.com/office/drawing/2014/main" id="{5D4D5B64-42D9-42C4-A6BE-2A6973E278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2"/>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2" name="Freeform 13">
              <a:extLst>
                <a:ext uri="{FF2B5EF4-FFF2-40B4-BE49-F238E27FC236}">
                  <a16:creationId xmlns:a16="http://schemas.microsoft.com/office/drawing/2014/main" id="{1EAB8F2F-DE57-4377-912F-05B35D40A1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4"/>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3" name="Freeform 14">
              <a:extLst>
                <a:ext uri="{FF2B5EF4-FFF2-40B4-BE49-F238E27FC236}">
                  <a16:creationId xmlns:a16="http://schemas.microsoft.com/office/drawing/2014/main" id="{DD1D1480-6395-4A5D-9FA6-AF4B833BC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1"/>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4" name="Freeform 15">
              <a:extLst>
                <a:ext uri="{FF2B5EF4-FFF2-40B4-BE49-F238E27FC236}">
                  <a16:creationId xmlns:a16="http://schemas.microsoft.com/office/drawing/2014/main" id="{9AF9AB5E-6007-4947-AF2D-3457E9A895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2"/>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5" name="Freeform 16">
              <a:extLst>
                <a:ext uri="{FF2B5EF4-FFF2-40B4-BE49-F238E27FC236}">
                  <a16:creationId xmlns:a16="http://schemas.microsoft.com/office/drawing/2014/main" id="{269AEE64-C8B2-4038-9B02-6805D665F4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7"/>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6" name="Freeform 17">
              <a:extLst>
                <a:ext uri="{FF2B5EF4-FFF2-40B4-BE49-F238E27FC236}">
                  <a16:creationId xmlns:a16="http://schemas.microsoft.com/office/drawing/2014/main" id="{4CC7A043-D86F-46B2-B834-ED7E1A27F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2"/>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7" name="Freeform 18">
              <a:extLst>
                <a:ext uri="{FF2B5EF4-FFF2-40B4-BE49-F238E27FC236}">
                  <a16:creationId xmlns:a16="http://schemas.microsoft.com/office/drawing/2014/main" id="{93B2972A-01E3-4CE4-AE98-189F1348F24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49"/>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8" name="Freeform 19">
              <a:extLst>
                <a:ext uri="{FF2B5EF4-FFF2-40B4-BE49-F238E27FC236}">
                  <a16:creationId xmlns:a16="http://schemas.microsoft.com/office/drawing/2014/main" id="{ED804FBD-1C24-46A8-A39B-8D107E4E9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2"/>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29" name="Freeform 20">
              <a:extLst>
                <a:ext uri="{FF2B5EF4-FFF2-40B4-BE49-F238E27FC236}">
                  <a16:creationId xmlns:a16="http://schemas.microsoft.com/office/drawing/2014/main" id="{32DCF403-6204-4021-9D08-BDF31A5E37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7"/>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0" name="Freeform 21">
              <a:extLst>
                <a:ext uri="{FF2B5EF4-FFF2-40B4-BE49-F238E27FC236}">
                  <a16:creationId xmlns:a16="http://schemas.microsoft.com/office/drawing/2014/main" id="{8EEC9242-04E6-4432-8156-70389D7052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2"/>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1" name="Freeform 24">
              <a:extLst>
                <a:ext uri="{FF2B5EF4-FFF2-40B4-BE49-F238E27FC236}">
                  <a16:creationId xmlns:a16="http://schemas.microsoft.com/office/drawing/2014/main" id="{7C0B0BCD-1793-4474-BA88-21D79D46B2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7"/>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2" name="Freeform 25">
              <a:extLst>
                <a:ext uri="{FF2B5EF4-FFF2-40B4-BE49-F238E27FC236}">
                  <a16:creationId xmlns:a16="http://schemas.microsoft.com/office/drawing/2014/main" id="{3E8F6CD4-3283-4349-8992-EBBD753BEF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2"/>
              <a:ext cx="133350" cy="266700"/>
            </a:xfrm>
            <a:custGeom>
              <a:avLst/>
              <a:gdLst/>
              <a:ahLst/>
              <a:cxnLst/>
              <a:rect l="0" t="0" r="r" b="b"/>
              <a:pathLst>
                <a:path w="84" h="168">
                  <a:moveTo>
                    <a:pt x="69" y="168"/>
                  </a:moveTo>
                  <a:lnTo>
                    <a:pt x="0" y="6"/>
                  </a:lnTo>
                  <a:lnTo>
                    <a:pt x="12" y="0"/>
                  </a:lnTo>
                  <a:lnTo>
                    <a:pt x="84" y="162"/>
                  </a:lnTo>
                  <a:lnTo>
                    <a:pt x="69" y="168"/>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3" name="Freeform 26">
              <a:extLst>
                <a:ext uri="{FF2B5EF4-FFF2-40B4-BE49-F238E27FC236}">
                  <a16:creationId xmlns:a16="http://schemas.microsoft.com/office/drawing/2014/main" id="{16BE686F-0921-4880-ADF4-9AB91595B8E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4"/>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4" name="Freeform 27">
              <a:extLst>
                <a:ext uri="{FF2B5EF4-FFF2-40B4-BE49-F238E27FC236}">
                  <a16:creationId xmlns:a16="http://schemas.microsoft.com/office/drawing/2014/main" id="{CFB3BE34-2F4B-437C-BDB6-891A555739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49"/>
              <a:ext cx="133350" cy="269875"/>
            </a:xfrm>
            <a:custGeom>
              <a:avLst/>
              <a:gdLst/>
              <a:ahLst/>
              <a:cxnLst/>
              <a:rect l="0" t="0" r="r" b="b"/>
              <a:pathLst>
                <a:path w="84" h="170">
                  <a:moveTo>
                    <a:pt x="12" y="170"/>
                  </a:moveTo>
                  <a:lnTo>
                    <a:pt x="0" y="164"/>
                  </a:lnTo>
                  <a:lnTo>
                    <a:pt x="69" y="0"/>
                  </a:lnTo>
                  <a:lnTo>
                    <a:pt x="84" y="6"/>
                  </a:lnTo>
                  <a:lnTo>
                    <a:pt x="12" y="170"/>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5" name="Freeform 28">
              <a:extLst>
                <a:ext uri="{FF2B5EF4-FFF2-40B4-BE49-F238E27FC236}">
                  <a16:creationId xmlns:a16="http://schemas.microsoft.com/office/drawing/2014/main" id="{7B07215D-B155-4DFE-BE3D-87632FF10D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7"/>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6" name="Freeform 29">
              <a:extLst>
                <a:ext uri="{FF2B5EF4-FFF2-40B4-BE49-F238E27FC236}">
                  <a16:creationId xmlns:a16="http://schemas.microsoft.com/office/drawing/2014/main" id="{EE16DA9D-8D6A-4347-AD4F-AE13970537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2"/>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7" name="Freeform 36">
              <a:extLst>
                <a:ext uri="{FF2B5EF4-FFF2-40B4-BE49-F238E27FC236}">
                  <a16:creationId xmlns:a16="http://schemas.microsoft.com/office/drawing/2014/main" id="{A00D09BA-63FF-4D69-9D31-136FF2802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2"/>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8" name="Freeform 37">
              <a:extLst>
                <a:ext uri="{FF2B5EF4-FFF2-40B4-BE49-F238E27FC236}">
                  <a16:creationId xmlns:a16="http://schemas.microsoft.com/office/drawing/2014/main" id="{9C8A19E6-32D5-4482-9CCD-1F78CA1CA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7"/>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39" name="Freeform 38">
              <a:extLst>
                <a:ext uri="{FF2B5EF4-FFF2-40B4-BE49-F238E27FC236}">
                  <a16:creationId xmlns:a16="http://schemas.microsoft.com/office/drawing/2014/main" id="{EA954B3D-AF3B-442D-A72F-6BD11E9DD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2"/>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0" name="Freeform 39">
              <a:extLst>
                <a:ext uri="{FF2B5EF4-FFF2-40B4-BE49-F238E27FC236}">
                  <a16:creationId xmlns:a16="http://schemas.microsoft.com/office/drawing/2014/main" id="{D9710435-DD32-48E0-BC50-CC3436D33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2"/>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1" name="Freeform 40">
              <a:extLst>
                <a:ext uri="{FF2B5EF4-FFF2-40B4-BE49-F238E27FC236}">
                  <a16:creationId xmlns:a16="http://schemas.microsoft.com/office/drawing/2014/main" id="{29B7CF4A-2D02-44B9-9AE5-4641A75E546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7"/>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2" name="Freeform 41">
              <a:extLst>
                <a:ext uri="{FF2B5EF4-FFF2-40B4-BE49-F238E27FC236}">
                  <a16:creationId xmlns:a16="http://schemas.microsoft.com/office/drawing/2014/main" id="{2512A521-F3FE-4B4E-84A4-B8E34B1F8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7"/>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3" name="Freeform 42">
              <a:extLst>
                <a:ext uri="{FF2B5EF4-FFF2-40B4-BE49-F238E27FC236}">
                  <a16:creationId xmlns:a16="http://schemas.microsoft.com/office/drawing/2014/main" id="{847E0DEA-D3E4-4FEB-B8B0-5864ECE94E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4"/>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4" name="Freeform 43">
              <a:extLst>
                <a:ext uri="{FF2B5EF4-FFF2-40B4-BE49-F238E27FC236}">
                  <a16:creationId xmlns:a16="http://schemas.microsoft.com/office/drawing/2014/main" id="{719D19AC-13DF-482F-A050-54D54D05F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7"/>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5" name="Freeform 44">
              <a:extLst>
                <a:ext uri="{FF2B5EF4-FFF2-40B4-BE49-F238E27FC236}">
                  <a16:creationId xmlns:a16="http://schemas.microsoft.com/office/drawing/2014/main" id="{331649B7-0BBD-4E9C-BD52-1BCA2E7E89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4"/>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6" name="Freeform 57">
              <a:extLst>
                <a:ext uri="{FF2B5EF4-FFF2-40B4-BE49-F238E27FC236}">
                  <a16:creationId xmlns:a16="http://schemas.microsoft.com/office/drawing/2014/main" id="{D3AAE7E3-779F-41B2-A9C5-D046EBF5B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4"/>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47" name="Freeform 58">
              <a:extLst>
                <a:ext uri="{FF2B5EF4-FFF2-40B4-BE49-F238E27FC236}">
                  <a16:creationId xmlns:a16="http://schemas.microsoft.com/office/drawing/2014/main" id="{5D0770C9-1E05-4CF6-94BD-20E2C7F1479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2"/>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solidFill>
              <a:srgbClr val="FFFFFF">
                <a:alpha val="70000"/>
              </a:srgb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grpSp>
      <p:grpSp>
        <p:nvGrpSpPr>
          <p:cNvPr id="49" name="Group 48">
            <a:extLst>
              <a:ext uri="{FF2B5EF4-FFF2-40B4-BE49-F238E27FC236}">
                <a16:creationId xmlns:a16="http://schemas.microsoft.com/office/drawing/2014/main" id="{6EBD291B-DF20-4DC7-B790-C0E2209CC8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p:grpSpPr>
        <p:sp>
          <p:nvSpPr>
            <p:cNvPr id="50" name="Freeform 32">
              <a:extLst>
                <a:ext uri="{FF2B5EF4-FFF2-40B4-BE49-F238E27FC236}">
                  <a16:creationId xmlns:a16="http://schemas.microsoft.com/office/drawing/2014/main" id="{ECABF7C5-4C62-4FE6-AE12-238A48EA32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1">
                <a:alpha val="80000"/>
              </a:scheme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1" name="Freeform 33">
              <a:extLst>
                <a:ext uri="{FF2B5EF4-FFF2-40B4-BE49-F238E27FC236}">
                  <a16:creationId xmlns:a16="http://schemas.microsoft.com/office/drawing/2014/main" id="{E95ECD4A-2806-4F52-8E3C-624A3039DB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1">
                <a:alpha val="80000"/>
              </a:scheme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2" name="Freeform 34">
              <a:extLst>
                <a:ext uri="{FF2B5EF4-FFF2-40B4-BE49-F238E27FC236}">
                  <a16:creationId xmlns:a16="http://schemas.microsoft.com/office/drawing/2014/main" id="{E9E18FA2-E809-499B-BD0A-61DCF6A7E1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1">
                <a:alpha val="80000"/>
              </a:scheme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3" name="Freeform 35">
              <a:extLst>
                <a:ext uri="{FF2B5EF4-FFF2-40B4-BE49-F238E27FC236}">
                  <a16:creationId xmlns:a16="http://schemas.microsoft.com/office/drawing/2014/main" id="{1CDF76CE-EE7F-4BF2-931E-D588B8B51D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1">
                <a:alpha val="80000"/>
              </a:scheme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4" name="Freeform 36">
              <a:extLst>
                <a:ext uri="{FF2B5EF4-FFF2-40B4-BE49-F238E27FC236}">
                  <a16:creationId xmlns:a16="http://schemas.microsoft.com/office/drawing/2014/main" id="{C8DB34E1-222F-47F0-869D-95191844404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1">
                <a:alpha val="80000"/>
              </a:scheme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5" name="Freeform 37">
              <a:extLst>
                <a:ext uri="{FF2B5EF4-FFF2-40B4-BE49-F238E27FC236}">
                  <a16:creationId xmlns:a16="http://schemas.microsoft.com/office/drawing/2014/main" id="{5ECDC5F0-AB2E-464F-BDF0-4011D7675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1">
                <a:alpha val="80000"/>
              </a:scheme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6" name="Freeform 38">
              <a:extLst>
                <a:ext uri="{FF2B5EF4-FFF2-40B4-BE49-F238E27FC236}">
                  <a16:creationId xmlns:a16="http://schemas.microsoft.com/office/drawing/2014/main" id="{F3E4457E-504F-49DD-BC16-68CBF984EA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1">
                <a:alpha val="80000"/>
              </a:scheme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7" name="Freeform 39">
              <a:extLst>
                <a:ext uri="{FF2B5EF4-FFF2-40B4-BE49-F238E27FC236}">
                  <a16:creationId xmlns:a16="http://schemas.microsoft.com/office/drawing/2014/main" id="{BE7AFA7A-BB1A-4162-8533-768769F0E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1">
                <a:alpha val="80000"/>
              </a:scheme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8" name="Freeform 40">
              <a:extLst>
                <a:ext uri="{FF2B5EF4-FFF2-40B4-BE49-F238E27FC236}">
                  <a16:creationId xmlns:a16="http://schemas.microsoft.com/office/drawing/2014/main" id="{542E7636-9349-48F5-B298-C49B1FECB5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1">
                <a:alpha val="80000"/>
              </a:scheme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p>
        <p:sp>
          <p:nvSpPr>
            <p:cNvPr id="59" name="Rectangle 41">
              <a:extLst>
                <a:ext uri="{FF2B5EF4-FFF2-40B4-BE49-F238E27FC236}">
                  <a16:creationId xmlns:a16="http://schemas.microsoft.com/office/drawing/2014/main" id="{5453D2D7-4B73-4C8C-9AF2-F4BA3FE45BF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solidFill>
              <a:schemeClr val="tx1">
                <a:alpha val="80000"/>
              </a:schemeClr>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sp>
      </p:grpSp>
      <p:sp>
        <p:nvSpPr>
          <p:cNvPr id="4" name="TextBox 3">
            <a:extLst>
              <a:ext uri="{FF2B5EF4-FFF2-40B4-BE49-F238E27FC236}">
                <a16:creationId xmlns:a16="http://schemas.microsoft.com/office/drawing/2014/main" id="{10A91CDC-A620-CC28-CE4D-FA6B0B5E74F7}"/>
              </a:ext>
            </a:extLst>
          </p:cNvPr>
          <p:cNvSpPr txBox="1"/>
          <p:nvPr/>
        </p:nvSpPr>
        <p:spPr>
          <a:xfrm>
            <a:off x="1146039" y="2226554"/>
            <a:ext cx="1075372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b="1" dirty="0"/>
              <a:t>THANK YOU</a:t>
            </a:r>
          </a:p>
        </p:txBody>
      </p:sp>
    </p:spTree>
    <p:extLst>
      <p:ext uri="{BB962C8B-B14F-4D97-AF65-F5344CB8AC3E}">
        <p14:creationId xmlns:p14="http://schemas.microsoft.com/office/powerpoint/2010/main" val="98297549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275</TotalTime>
  <Words>2639</Words>
  <Application>Microsoft Office PowerPoint</Application>
  <PresentationFormat>Widescreen</PresentationFormat>
  <Paragraphs>332</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Arial Black</vt:lpstr>
      <vt:lpstr>Calibri</vt:lpstr>
      <vt:lpstr>Tw Cen MT</vt:lpstr>
      <vt:lpstr>Wingdings</vt:lpstr>
      <vt:lpstr>Circuit</vt:lpstr>
      <vt:lpstr>SMARTPHONE  DATASET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prithi karrahe</dc:creator>
  <cp:lastModifiedBy>prithi karrahe</cp:lastModifiedBy>
  <cp:revision>95</cp:revision>
  <dcterms:created xsi:type="dcterms:W3CDTF">2025-08-12T18:20:58Z</dcterms:created>
  <dcterms:modified xsi:type="dcterms:W3CDTF">2025-09-13T17:42:33Z</dcterms:modified>
</cp:coreProperties>
</file>